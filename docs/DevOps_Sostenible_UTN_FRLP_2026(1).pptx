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uYQR5ktq7W0&amp;t=1" TargetMode="External"/><Relationship Id="rId3" Type="http://schemas.openxmlformats.org/officeDocument/2006/relationships/hyperlink" Target="https://www.youtube.com/watch?v=uYQR5ktq7W0&amp;t=3" TargetMode="External"/><Relationship Id="rId4" Type="http://schemas.openxmlformats.org/officeDocument/2006/relationships/hyperlink" Target="https://www.youtube.com/watch?v=uYQR5ktq7W0&amp;t=8" TargetMode="External"/><Relationship Id="rId5" Type="http://schemas.openxmlformats.org/officeDocument/2006/relationships/hyperlink" Target="https://www.youtube.com/watch?v=uYQR5ktq7W0&amp;t=11" TargetMode="External"/><Relationship Id="rId6" Type="http://schemas.openxmlformats.org/officeDocument/2006/relationships/hyperlink" Target="https://www.youtube.com/watch?v=uYQR5ktq7W0&amp;t=14" TargetMode="External"/><Relationship Id="rId7" Type="http://schemas.openxmlformats.org/officeDocument/2006/relationships/hyperlink" Target="https://www.youtube.com/watch?v=uYQR5ktq7W0&amp;t=16"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 — PORTADA (00:00–01:00)</a:t>
            </a:r>
            <a:br>
              <a:rPr lang="en-US"/>
            </a:br>
            <a:r>
              <a:rPr lang="en-US"/>
              <a:t>Saludo y presentación personal en 30 segundos.</a:t>
            </a:r>
            <a:br>
              <a:rPr lang="en-US"/>
            </a:br>
            <a:r>
              <a:rPr lang="en-US"/>
              <a:t>Mencionar el contexto: "Venimos de escuchar a GMET hablar de diseño inclusivo. Nosotros vamos a hablar de lo que pasa DESPUÉS del diseño: cómo sostenemos ese software en el tiempo, en el planeta y para las personas que lo operan."</a:t>
            </a:r>
            <a:br>
              <a:rPr lang="en-US"/>
            </a:br>
            <a:r>
              <a:rPr lang="en-US"/>
              <a:t>Anunciar estructura: "30 minutos, sin manuales, sin teoría abstracta. Problemas reales, soluciones reales, para 2026."</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 EL PUENTE (01:00–03:00)</a:t>
            </a:r>
            <a:br>
              <a:rPr lang="en-US"/>
            </a:br>
            <a:r>
              <a:rPr lang="en-US"/>
              <a:t>Conectar explícitamente con la charla anterior de GMET.</a:t>
            </a:r>
            <a:br>
              <a:rPr lang="en-US"/>
            </a:br>
            <a:r>
              <a:rPr lang="en-US"/>
              <a:t>Decir: "Las colegas de GMET nos mostraron que diseñar sin incluir todas las miradas es, literalmente, peligroso. En DevOps aplicamos esa misma empatía radical, pero a la capa de operación del software."</a:t>
            </a:r>
            <a:br>
              <a:rPr lang="en-US"/>
            </a:br>
            <a:r>
              <a:rPr lang="en-US"/>
              <a:t>Punto clave: el diseño inclusivo resuelve el QUÉ construimos. DevOps resuelve el CÓMO lo sostenemos vivo, eficientemente, sin destruir el planeta ni quemar a las personas que lo operan.</a:t>
            </a:r>
            <a:br>
              <a:rPr lang="en-US"/>
            </a:br>
            <a:r>
              <a:rPr lang="en-US"/>
              <a:t>Pregunta retórica al público: "¿Alguien diseñó algo brillante que luego murió en producción la primera semana?" (pausa, risas)</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3 — EL HOOK CON VIDEO (03:00–05:30)</a:t>
            </a:r>
            <a:br>
              <a:rPr lang="en-US"/>
            </a:br>
            <a:br>
              <a:rPr lang="en-US"/>
            </a:br>
            <a:r>
              <a:rPr lang="en-US"/>
              <a:t>▶ REPRODUCIR EL VIDEO PRIMERO (dura ~20 segundos)</a:t>
            </a:r>
            <a:br>
              <a:rPr lang="en-US"/>
            </a:br>
            <a:r>
              <a:rPr b="1" lang="en-US" sz="1100">
                <a:latin typeface="Arial"/>
                <a:ea typeface="Arial"/>
                <a:cs typeface="Arial"/>
                <a:sym typeface="Arial"/>
              </a:rPr>
              <a:t>[</a:t>
            </a:r>
            <a:r>
              <a:rPr b="1" lang="en-US" sz="1100" u="sng">
                <a:solidFill>
                  <a:schemeClr val="hlink"/>
                </a:solidFill>
                <a:latin typeface="Arial"/>
                <a:ea typeface="Arial"/>
                <a:cs typeface="Arial"/>
                <a:sym typeface="Arial"/>
                <a:hlinkClick r:id="rId2"/>
              </a:rPr>
              <a:t>00:01</a:t>
            </a:r>
            <a:r>
              <a:rPr b="1" lang="en-US" sz="1100">
                <a:latin typeface="Arial"/>
                <a:ea typeface="Arial"/>
                <a:cs typeface="Arial"/>
                <a:sym typeface="Arial"/>
              </a:rPr>
              <a:t>] Vince:</a:t>
            </a:r>
            <a:r>
              <a:rPr lang="en-US" sz="1100">
                <a:latin typeface="Arial"/>
                <a:ea typeface="Arial"/>
                <a:cs typeface="Arial"/>
                <a:sym typeface="Arial"/>
              </a:rPr>
              <a:t> Uno, dos, uno, dos... </a:t>
            </a:r>
            <a:r>
              <a:rPr b="1" lang="en-US" sz="1100">
                <a:latin typeface="Arial"/>
                <a:ea typeface="Arial"/>
                <a:cs typeface="Arial"/>
                <a:sym typeface="Arial"/>
              </a:rPr>
              <a:t>[</a:t>
            </a:r>
            <a:r>
              <a:rPr b="1" lang="en-US" sz="1100" u="sng">
                <a:solidFill>
                  <a:schemeClr val="hlink"/>
                </a:solidFill>
                <a:latin typeface="Arial"/>
                <a:ea typeface="Arial"/>
                <a:cs typeface="Arial"/>
                <a:sym typeface="Arial"/>
                <a:hlinkClick r:id="rId3"/>
              </a:rPr>
              <a:t>00:03</a:t>
            </a:r>
            <a:r>
              <a:rPr b="1" lang="en-US" sz="1100">
                <a:latin typeface="Arial"/>
                <a:ea typeface="Arial"/>
                <a:cs typeface="Arial"/>
                <a:sym typeface="Arial"/>
              </a:rPr>
              <a:t>] Vince:</a:t>
            </a:r>
            <a:r>
              <a:rPr lang="en-US" sz="1100">
                <a:latin typeface="Arial"/>
                <a:ea typeface="Arial"/>
                <a:cs typeface="Arial"/>
                <a:sym typeface="Arial"/>
              </a:rPr>
              <a:t> Larry, sabes que este sencillo ejercicio puede ayudarte a mantenerte saludable, lo cual mantiene bajos los costos médicos. </a:t>
            </a:r>
            <a:r>
              <a:rPr b="1" lang="en-US" sz="1100">
                <a:latin typeface="Arial"/>
                <a:ea typeface="Arial"/>
                <a:cs typeface="Arial"/>
                <a:sym typeface="Arial"/>
              </a:rPr>
              <a:t>[</a:t>
            </a:r>
            <a:r>
              <a:rPr b="1" lang="en-US" sz="1100" u="sng">
                <a:solidFill>
                  <a:schemeClr val="hlink"/>
                </a:solidFill>
                <a:latin typeface="Arial"/>
                <a:ea typeface="Arial"/>
                <a:cs typeface="Arial"/>
                <a:sym typeface="Arial"/>
                <a:hlinkClick r:id="rId4"/>
              </a:rPr>
              <a:t>00:08</a:t>
            </a:r>
            <a:r>
              <a:rPr b="1" lang="en-US" sz="1100">
                <a:latin typeface="Arial"/>
                <a:ea typeface="Arial"/>
                <a:cs typeface="Arial"/>
                <a:sym typeface="Arial"/>
              </a:rPr>
              <a:t>] Larry:</a:t>
            </a:r>
            <a:r>
              <a:rPr lang="en-US" sz="1100">
                <a:latin typeface="Arial"/>
                <a:ea typeface="Arial"/>
                <a:cs typeface="Arial"/>
                <a:sym typeface="Arial"/>
              </a:rPr>
              <a:t> Pero tienes que hacerlo todos los días, Vince. </a:t>
            </a:r>
            <a:r>
              <a:rPr b="1" lang="en-US" sz="1100">
                <a:latin typeface="Arial"/>
                <a:ea typeface="Arial"/>
                <a:cs typeface="Arial"/>
                <a:sym typeface="Arial"/>
              </a:rPr>
              <a:t>[</a:t>
            </a:r>
            <a:r>
              <a:rPr b="1" lang="en-US" sz="1100" u="sng">
                <a:solidFill>
                  <a:schemeClr val="hlink"/>
                </a:solidFill>
                <a:latin typeface="Arial"/>
                <a:ea typeface="Arial"/>
                <a:cs typeface="Arial"/>
                <a:sym typeface="Arial"/>
                <a:hlinkClick r:id="rId5"/>
              </a:rPr>
              <a:t>00:11</a:t>
            </a:r>
            <a:r>
              <a:rPr b="1" lang="en-US" sz="1100">
                <a:latin typeface="Arial"/>
                <a:ea typeface="Arial"/>
                <a:cs typeface="Arial"/>
                <a:sym typeface="Arial"/>
              </a:rPr>
              <a:t>]</a:t>
            </a:r>
            <a:r>
              <a:rPr lang="en-US" sz="1100">
                <a:latin typeface="Arial"/>
                <a:ea typeface="Arial"/>
                <a:cs typeface="Arial"/>
                <a:sym typeface="Arial"/>
              </a:rPr>
              <a:t> </a:t>
            </a:r>
            <a:r>
              <a:rPr i="1" lang="en-US" sz="1100">
                <a:latin typeface="Arial"/>
                <a:ea typeface="Arial"/>
                <a:cs typeface="Arial"/>
                <a:sym typeface="Arial"/>
              </a:rPr>
              <a:t>(Sonido del vehículo acelerando y choque)</a:t>
            </a:r>
            <a:r>
              <a:rPr lang="en-US" sz="1100">
                <a:latin typeface="Arial"/>
                <a:ea typeface="Arial"/>
                <a:cs typeface="Arial"/>
                <a:sym typeface="Arial"/>
              </a:rPr>
              <a:t> ¡Wooooo! </a:t>
            </a:r>
            <a:r>
              <a:rPr b="1" lang="en-US" sz="1100">
                <a:latin typeface="Arial"/>
                <a:ea typeface="Arial"/>
                <a:cs typeface="Arial"/>
                <a:sym typeface="Arial"/>
              </a:rPr>
              <a:t>[</a:t>
            </a:r>
            <a:r>
              <a:rPr b="1" lang="en-US" sz="1100" u="sng">
                <a:solidFill>
                  <a:schemeClr val="hlink"/>
                </a:solidFill>
                <a:latin typeface="Arial"/>
                <a:ea typeface="Arial"/>
                <a:cs typeface="Arial"/>
                <a:sym typeface="Arial"/>
                <a:hlinkClick r:id="rId6"/>
              </a:rPr>
              <a:t>00:14</a:t>
            </a:r>
            <a:r>
              <a:rPr b="1" lang="en-US" sz="1100">
                <a:latin typeface="Arial"/>
                <a:ea typeface="Arial"/>
                <a:cs typeface="Arial"/>
                <a:sym typeface="Arial"/>
              </a:rPr>
              <a:t>] Larry:</a:t>
            </a:r>
            <a:r>
              <a:rPr lang="en-US" sz="1100">
                <a:latin typeface="Arial"/>
                <a:ea typeface="Arial"/>
                <a:cs typeface="Arial"/>
                <a:sym typeface="Arial"/>
              </a:rPr>
              <a:t> O te pondrás fuera de forma rápido. </a:t>
            </a:r>
            <a:r>
              <a:rPr b="1" lang="en-US" sz="1100">
                <a:latin typeface="Arial"/>
                <a:ea typeface="Arial"/>
                <a:cs typeface="Arial"/>
                <a:sym typeface="Arial"/>
              </a:rPr>
              <a:t>[</a:t>
            </a:r>
            <a:r>
              <a:rPr b="1" lang="en-US" sz="1100" u="sng">
                <a:solidFill>
                  <a:schemeClr val="hlink"/>
                </a:solidFill>
                <a:latin typeface="Arial"/>
                <a:ea typeface="Arial"/>
                <a:cs typeface="Arial"/>
                <a:sym typeface="Arial"/>
                <a:hlinkClick r:id="rId7"/>
              </a:rPr>
              <a:t>00:16</a:t>
            </a:r>
            <a:r>
              <a:rPr b="1" lang="en-US" sz="1100">
                <a:latin typeface="Arial"/>
                <a:ea typeface="Arial"/>
                <a:cs typeface="Arial"/>
                <a:sym typeface="Arial"/>
              </a:rPr>
              <a:t>] Locutor:</a:t>
            </a:r>
            <a:r>
              <a:rPr lang="en-US" sz="1100">
                <a:latin typeface="Arial"/>
                <a:ea typeface="Arial"/>
                <a:cs typeface="Arial"/>
                <a:sym typeface="Arial"/>
              </a:rPr>
              <a:t> Podrías aprender mucho de un muñeco. Abróchate el cinturón de seguridad.</a:t>
            </a:r>
            <a:br>
              <a:rPr lang="en-US"/>
            </a:br>
            <a:br>
              <a:rPr lang="en-US"/>
            </a:br>
            <a:r>
              <a:rPr lang="en-US"/>
              <a:t>DESPUÉS del video, hablar:</a:t>
            </a:r>
            <a:br>
              <a:rPr lang="en-US"/>
            </a:br>
            <a:r>
              <a:rPr lang="en-US"/>
              <a:t>"¿Gracioso, no? Ese crash dummy tiene exactamente el mismo problema que el software que construímos durante décadas: fue probado en condiciones ideales, y nadie pensó en qué pasaba cuando chocaba con la realidad del usuario."</a:t>
            </a:r>
            <a:br>
              <a:rPr lang="en-US"/>
            </a:br>
            <a:br>
              <a:rPr lang="en-US"/>
            </a:br>
            <a:r>
              <a:rPr lang="en-US"/>
              <a:t>Conectar con GMET:</a:t>
            </a:r>
            <a:br>
              <a:rPr lang="en-US"/>
            </a:br>
            <a:r>
              <a:rPr lang="en-US"/>
              <a:t>"Las colegas de GMET mostraron que esos mismos dummies no representaban a la mitad de la población. Nosotros hoy vamos a mostrar que tampoco representaban los sistemas que van a operar en producción el resto de sus vidas."</a:t>
            </a:r>
            <a:br>
              <a:rPr lang="en-US"/>
            </a:br>
            <a:br>
              <a:rPr lang="en-US"/>
            </a:br>
            <a:r>
              <a:rPr lang="en-US"/>
              <a:t>Pausa dramática. Señalar el texto de la derecha y leerlo despacio:</a:t>
            </a:r>
            <a:br>
              <a:rPr lang="en-US"/>
            </a:br>
            <a:r>
              <a:rPr lang="en-US"/>
              <a:t>"Elegante en el laboratorio. Catastrófico al chocar con la realidad."</a:t>
            </a:r>
            <a:br>
              <a:rPr lang="en-US"/>
            </a:br>
            <a:br>
              <a:rPr lang="en-US"/>
            </a:br>
            <a:r>
              <a:rPr lang="en-US"/>
              <a:t>Leer el recuadro final con convicción, pausa de 3 seg después:</a:t>
            </a:r>
            <a:br>
              <a:rPr lang="en-US"/>
            </a:br>
            <a:r>
              <a:rPr lang="en-US"/>
              <a:t>"No necesitamos héroes que no duermen. Necesitamos sistemas diseñados para sobrevivir."</a:t>
            </a:r>
            <a:br>
              <a:rPr lang="en-US"/>
            </a:br>
            <a:br>
              <a:rPr lang="en-US"/>
            </a:br>
            <a:r>
              <a:rPr lang="en-US"/>
              <a:t>⚠️ NOTA TÉCNICA: el video requiere conexión a internet durante la presentación.</a:t>
            </a:r>
            <a:br>
              <a:rPr lang="en-US"/>
            </a:br>
            <a:r>
              <a:rPr lang="en-US"/>
              <a:t>   Verificar conectividad antes de subir al escenario.</a:t>
            </a:r>
            <a:br>
              <a:rPr lang="en-US"/>
            </a:br>
            <a:r>
              <a:rPr lang="en-US"/>
              <a:t>   Alternativa sin internet: abrir https://youtu.be/uYQR5ktq7W0 en el browser con anticipación.</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4 — AGENDA (05:00–05:45)</a:t>
            </a:r>
            <a:br>
              <a:rPr lang="en-US"/>
            </a:br>
            <a:r>
              <a:rPr lang="en-US"/>
              <a:t>Mostrar la estructura rápidamente. No leer cada ítem, solo nombrarlos:</a:t>
            </a:r>
            <a:br>
              <a:rPr lang="en-US"/>
            </a:br>
            <a:r>
              <a:rPr lang="en-US"/>
              <a:t>"Vamos a movernos por cinco bloques que se construyen uno sobre el otro: problema → métricas → arquitectura → herramientas → gobernanza. Al final van a tener el mapa completo."</a:t>
            </a:r>
            <a:br>
              <a:rPr lang="en-US"/>
            </a:br>
            <a:r>
              <a:rPr lang="en-US"/>
              <a:t>Opcional: preguntar "¿Alguno de estos temas les suena familiar? ¿Alguno nunca lo escucharon?" para calibrar el nivel de la audiencia.</a:t>
            </a:r>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5 — EL IMPERATIVO 2026 (05:45–08:00)</a:t>
            </a:r>
            <a:br>
              <a:rPr lang="en-US"/>
            </a:br>
            <a:r>
              <a:rPr lang="en-US"/>
              <a:t>Datos duros primero para anclar la urgencia. Citar: IEA (International Energy Agency) y el informe de Thoughtworks Tech Radar Vol.33.</a:t>
            </a:r>
            <a:br>
              <a:rPr lang="en-US"/>
            </a:br>
            <a:r>
              <a:rPr lang="en-US"/>
              <a:t>Frase clave para decir: "La industria tech por años asumió que los recursos eran infinitos: compute infinito, storage infinito, ancho de banda infinito. Eso se acabó. Los hiperescalers ya pagan penalizaciones carbono. Pronto nosotros también."</a:t>
            </a:r>
            <a:br>
              <a:rPr lang="en-US"/>
            </a:br>
            <a:r>
              <a:rPr lang="en-US"/>
              <a:t>Conectar con la audiencia: "Si van a trabajar en Argentina para el mercado global, sus clientes europeos ya les van a pedir reportes de emisiones de carbono de su software. No es futuro, es presente."</a:t>
            </a:r>
            <a:br>
              <a:rPr lang="en-US"/>
            </a:br>
            <a:r>
              <a:rPr lang="en-US"/>
              <a:t>Fuente principal: IEA Data Centres and Transmission Networks, 2025. Green Software Foundation SCI Spec v1.0.</a:t>
            </a:r>
            <a:endParaRP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6 — GREENOPS (08:00–10:30)</a:t>
            </a:r>
            <a:br>
              <a:rPr lang="en-US"/>
            </a:br>
            <a:r>
              <a:rPr lang="en-US"/>
              <a:t>Explicar el pipeline de arriba: cada etapa del CI/CD puede medir y reportar emisiones.</a:t>
            </a:r>
            <a:br>
              <a:rPr lang="en-US"/>
            </a:br>
            <a:r>
              <a:rPr lang="en-US"/>
              <a:t>SCI (Software Carbon Intensity): es la fórmula estándar de la Green Software Foundation. E = energía consumida, I = intensidad de carbono de la red, M = carbono del hardware.</a:t>
            </a:r>
            <a:br>
              <a:rPr lang="en-US"/>
            </a:br>
            <a:r>
              <a:rPr lang="en-US"/>
              <a:t>Punto de impacto: "Hoy Amazon, Google y Microsoft ya tienen APIs que te devuelven la intensidad de carbono en tiempo real de cada región. Puedes decidir automáticamente dónde correr tu workload en función del carbono, no solo del costo."</a:t>
            </a:r>
            <a:br>
              <a:rPr lang="en-US"/>
            </a:br>
            <a:r>
              <a:rPr lang="en-US"/>
              <a:t>Carbon-Aware SDK: proyecto open source de la Green Software Foundation, disponible en GitHub.</a:t>
            </a:r>
            <a:br>
              <a:rPr lang="en-US"/>
            </a:br>
            <a:r>
              <a:rPr lang="en-US"/>
              <a:t>Frase para cerrar el bloque: "GreenOps no es responsabilidad social corporativa decorativa. Es ingeniería de costos + ingeniería ambiental unificada."</a:t>
            </a:r>
            <a:br>
              <a:rPr lang="en-US"/>
            </a:br>
            <a:r>
              <a:rPr lang="en-US"/>
              <a:t>Fuente: greensoftware.foundation · Principles of Green Software Engineering (Asim Hussain)</a:t>
            </a:r>
            <a:endParaRPr/>
          </a:p>
        </p:txBody>
      </p:sp>
      <p:sp>
        <p:nvSpPr>
          <p:cNvPr id="128" name="Google Shape;12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7 — ARQUITECTURAS DE BAJO IMPACTO (10:30–13:00)</a:t>
            </a:r>
            <a:br>
              <a:rPr lang="en-US"/>
            </a:br>
            <a:r>
              <a:rPr lang="en-US"/>
              <a:t>Columna 1 - Virtualización inteligente:</a:t>
            </a:r>
            <a:br>
              <a:rPr lang="en-US"/>
            </a:br>
            <a:r>
              <a:rPr lang="en-US"/>
              <a:t>  Firecracker fue creado por AWS para correr funciones Lambda. Cada microVM arranca en menos de 125ms y usa muchísimo menos RAM que una VM tradicional. Más densidad = menos servidores = menos energía.</a:t>
            </a:r>
            <a:br>
              <a:rPr lang="en-US"/>
            </a:br>
            <a:r>
              <a:rPr lang="en-US"/>
              <a:t>  eBPF es la tecnología más importante de los últimos 10 años en Linux. Permite observabilidad sin agentes, sin overhead.</a:t>
            </a:r>
            <a:br>
              <a:rPr lang="en-US"/>
            </a:br>
            <a:r>
              <a:rPr lang="en-US"/>
              <a:t>Columna 2 - Edge Computing:</a:t>
            </a:r>
            <a:br>
              <a:rPr lang="en-US"/>
            </a:br>
            <a:r>
              <a:rPr lang="en-US"/>
              <a:t>  WebAssembly no es solo para el browser. Cloudflare Workers, Fastly Compute@Edge, Fermyon Spin corren WASM en el borde. Portable, seguro, eficiente.</a:t>
            </a:r>
            <a:br>
              <a:rPr lang="en-US"/>
            </a:br>
            <a:r>
              <a:rPr lang="en-US"/>
              <a:t>Columna 3 - Orquestación carbon-aware:</a:t>
            </a:r>
            <a:br>
              <a:rPr lang="en-US"/>
            </a:br>
            <a:r>
              <a:rPr lang="en-US"/>
              <a:t>  Scale-to-zero es la idea más poderosa: si nadie usa el servicio, no corre, no consume. KEDA lo hace posible en Kubernetes.</a:t>
            </a:r>
            <a:br>
              <a:rPr lang="en-US"/>
            </a:br>
            <a:r>
              <a:rPr lang="en-US"/>
              <a:t>  Carbon Scheduler es experimental pero disponible en GitHub. Selector de nodos según zona horaria con energía renovable.</a:t>
            </a:r>
            <a:br>
              <a:rPr lang="en-US"/>
            </a:br>
            <a:r>
              <a:rPr lang="en-US"/>
              <a:t>Clave: "La arquitectura no es solo performance. Es energía. Es dinero. Es planeta."</a:t>
            </a:r>
            <a:endParaRPr/>
          </a:p>
        </p:txBody>
      </p:sp>
      <p:sp>
        <p:nvSpPr>
          <p:cNvPr id="170" name="Google Shape;1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8 — IA LOCAL (13:00–15:30)</a:t>
            </a:r>
            <a:br>
              <a:rPr lang="en-US"/>
            </a:br>
            <a:r>
              <a:rPr lang="en-US"/>
              <a:t>El giro de 2025-2026: los LLMs se pueden correr localmente en hardware razonable.</a:t>
            </a:r>
            <a:br>
              <a:rPr lang="en-US"/>
            </a:br>
            <a:r>
              <a:rPr lang="en-US"/>
              <a:t>Herramientas clave:</a:t>
            </a:r>
            <a:br>
              <a:rPr lang="en-US"/>
            </a:br>
            <a:r>
              <a:rPr lang="en-US"/>
              <a:t>  - Ollama: servidor local para Llama 3.1, Mistral, Qwen, DeepSeek. Corre en Mac M-series o GPU consumer.</a:t>
            </a:r>
            <a:br>
              <a:rPr lang="en-US"/>
            </a:br>
            <a:r>
              <a:rPr lang="en-US"/>
              <a:t>  - llama.cpp: inferencia en CPU pura, funciona hasta en Raspberry Pi para modelos pequeños.</a:t>
            </a:r>
            <a:br>
              <a:rPr lang="en-US"/>
            </a:br>
            <a:r>
              <a:rPr lang="en-US"/>
              <a:t>  - Beneficio principal: privacidad de datos de infraestructura, sin latencia de red, sin costo por token.</a:t>
            </a:r>
            <a:br>
              <a:rPr lang="en-US"/>
            </a:br>
            <a:r>
              <a:rPr lang="en-US"/>
              <a:t>MCP (Model Context Protocol): estándar abierto de Anthropic (2024) para que los agentes IA se conecten a herramientas externas de forma segura. El agente puede ejecutar comandos kubectl, terraform, leer logs, crear alertas.</a:t>
            </a:r>
            <a:br>
              <a:rPr lang="en-US"/>
            </a:br>
            <a:r>
              <a:rPr lang="en-US"/>
              <a:t>Punto crítico sobre Guardrails: "La IA no reemplaza al ingeniero. La IA es el copiloto que ejecuta, pero el humano define los límites. Eso es lo que los 'guardrails' representan en el diagrama."</a:t>
            </a:r>
            <a:br>
              <a:rPr lang="en-US"/>
            </a:br>
            <a:r>
              <a:rPr lang="en-US"/>
              <a:t>State of DevOps 2025: equipos con AI-assisted ops reducen MTTR en 40%.</a:t>
            </a:r>
            <a:endParaRPr/>
          </a:p>
        </p:txBody>
      </p:sp>
      <p:sp>
        <p:nvSpPr>
          <p:cNvPr id="216" name="Google Shape;21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9 — SRE EVOLUCIONADO (15:30–18:00)</a:t>
            </a:r>
            <a:br>
              <a:rPr lang="en-US"/>
            </a:br>
            <a:r>
              <a:rPr lang="en-US"/>
              <a:t>El SRE Book de Google (O'Reilly) define los SLOs. La evolución 2026 los extiende al dominio del carbono.</a:t>
            </a:r>
            <a:br>
              <a:rPr lang="en-US"/>
            </a:br>
            <a:r>
              <a:rPr lang="en-US"/>
              <a:t>Concepto central: Error Budget dual. Antes: "Tengo 0.1% de presupuesto de error por mes." Ahora: "Tengo presupuesto de error Y presupuesto de carbono. Si agoto cualquiera de los dos, hay que frenar features y pagar deuda."</a:t>
            </a:r>
            <a:br>
              <a:rPr lang="en-US"/>
            </a:br>
            <a:r>
              <a:rPr lang="en-US"/>
              <a:t>Ejemplo concreto para dar en la charla: "Un batch job que se ejecuta a las 2 PM en una zona con energía de carbono puede tener el mismo resultado si se ejecuta a las 2 AM cuando la red eléctrica está alimentada con renovables. Mismo costo de cómputo, 60% menos emisiones. Eso es un 'carbon budget' bien gestionado."</a:t>
            </a:r>
            <a:br>
              <a:rPr lang="en-US"/>
            </a:br>
            <a:r>
              <a:rPr lang="en-US"/>
              <a:t>Google ya expone API de intensidad de carbono por región en GCP. Microsoft Azure también.</a:t>
            </a:r>
            <a:br>
              <a:rPr lang="en-US"/>
            </a:br>
            <a:r>
              <a:rPr lang="en-US"/>
              <a:t>Fuente: SRE Book Google O'Reilly · Gartner Platform Engineering Maturity Model 2026.</a:t>
            </a:r>
            <a:endParaRPr/>
          </a:p>
        </p:txBody>
      </p:sp>
      <p:sp>
        <p:nvSpPr>
          <p:cNvPr id="265" name="Google Shape;26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10 — LOS TRES PILARES (18:00–19:30)</a:t>
            </a:r>
            <a:br>
              <a:rPr lang="en-US"/>
            </a:br>
            <a:r>
              <a:rPr lang="en-US"/>
              <a:t>Slide de síntesis. No explicar en detalle — ya se cubrió en los bloques anteriores.</a:t>
            </a:r>
            <a:br>
              <a:rPr lang="en-US"/>
            </a:br>
            <a:r>
              <a:rPr lang="en-US"/>
              <a:t>Conectar los tres pilares como un sistema: "El pilar humano sin el técnico falla por deuda técnica. El técnico sin el económico se convierte en gold-plating. El económico sin el humano genera burnout y turnover. Los tres son inseparables."</a:t>
            </a:r>
            <a:br>
              <a:rPr lang="en-US"/>
            </a:br>
            <a:r>
              <a:rPr lang="en-US"/>
              <a:t>Referencia Accelerate (Forsgren, Humble, Kim 2018): las empresas de alto rendimiento tienen los tres. Datos: 4× más deployments, 24× menor MTTR, 3× menor burnout.</a:t>
            </a:r>
            <a:br>
              <a:rPr lang="en-US"/>
            </a:br>
            <a:r>
              <a:rPr lang="en-US"/>
              <a:t>El Proyecto Fénix y El Proyecto Unicornio (Gene Kim): narrativa de estos tres pilares en forma de novela. Muy recomendable para los estudiantes.</a:t>
            </a:r>
            <a:endParaRPr/>
          </a:p>
        </p:txBody>
      </p:sp>
      <p:sp>
        <p:nvSpPr>
          <p:cNvPr id="311" name="Google Shape;31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11 — HORIZONTE 2026 (19:30–20:30)</a:t>
            </a:r>
            <a:br>
              <a:rPr lang="en-US"/>
            </a:br>
            <a:r>
              <a:rPr lang="en-US"/>
              <a:t>Último bloque técnico antes del cierre.</a:t>
            </a:r>
            <a:br>
              <a:rPr lang="en-US"/>
            </a:br>
            <a:r>
              <a:rPr lang="en-US"/>
              <a:t>Platform Engineering: Gartner predice que para fines de 2026, el 80% de las organizaciones grandes tendrán un Internal Developer Platform. En Argentina ya lo están implementando empresas como Mercado Libre y Globant.</a:t>
            </a:r>
            <a:br>
              <a:rPr lang="en-US"/>
            </a:br>
            <a:r>
              <a:rPr lang="en-US"/>
              <a:t>AI-Native DevOps: la diferencia entre "usar ChatGPT para escribir código" y "agentes que monitorean, alertan y ejecutan runbooks automáticamente." El segundo es AI-Native.</a:t>
            </a:r>
            <a:br>
              <a:rPr lang="en-US"/>
            </a:br>
            <a:r>
              <a:rPr lang="en-US"/>
              <a:t>MCP: es el protocolo que permite que los agentes tengan "manos" para tocar la infraestructura. Lanzado por Anthropic en noviembre de 2024. Adoptado rápidamente por el ecosistema.</a:t>
            </a:r>
            <a:br>
              <a:rPr lang="en-US"/>
            </a:br>
            <a:r>
              <a:rPr lang="en-US"/>
              <a:t>DORA Metrics: recordar que son 4: Deployment Frequency, Lead Time for Changes, MTTR, Change Failure Rate. Las métricas más citadas en ingeniería de software.</a:t>
            </a:r>
            <a:endParaRPr/>
          </a:p>
        </p:txBody>
      </p:sp>
      <p:sp>
        <p:nvSpPr>
          <p:cNvPr id="359" name="Google Shape;35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12 — TEST 3 AM (20:30–22:00)</a:t>
            </a:r>
            <a:br>
              <a:rPr lang="en-US"/>
            </a:br>
            <a:r>
              <a:rPr lang="en-US"/>
              <a:t>INSTRUCCIONES DE EJECUCIÓN:</a:t>
            </a:r>
            <a:br>
              <a:rPr lang="en-US"/>
            </a:br>
            <a:r>
              <a:rPr lang="en-US"/>
              <a:t>Paso 1: Pedir que levanten la mano. Esperar. Comentar que casi todos levantaron la mano. "Es normal. Los silos son el default de la industria."</a:t>
            </a:r>
            <a:br>
              <a:rPr lang="en-US"/>
            </a:br>
            <a:r>
              <a:rPr lang="en-US"/>
              <a:t>Paso 2: Pedir que cierren los ojos (bajar el tono). "Son las 3 de la mañana. Su teléfono suena. Un usuario en otro país no puede pagar su medicamento porque el sistema de pagos falló. Un commit de hace 4 horas lo rompió todo."</a:t>
            </a:r>
            <a:br>
              <a:rPr lang="en-US"/>
            </a:br>
            <a:r>
              <a:rPr lang="en-US"/>
              <a:t>Paso 3: Abrir los ojos. "Pueden elegir culpar a quien hizo el último deploy, o pueden confiar en que el proceso tiene rollback automático, alertas, runbooks y que el sistema se va a curar solo mientras ustedes duermen."</a:t>
            </a:r>
            <a:br>
              <a:rPr lang="en-US"/>
            </a:br>
            <a:r>
              <a:rPr lang="en-US"/>
              <a:t>Cierre enfático: leer la frase final en voz alta, pausa de 3 segundos.</a:t>
            </a:r>
            <a:endParaRPr/>
          </a:p>
        </p:txBody>
      </p:sp>
      <p:sp>
        <p:nvSpPr>
          <p:cNvPr id="393" name="Google Shape;39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13 — CIERRE &amp; CTA (22:00–25:00 · luego preguntas)</a:t>
            </a:r>
            <a:br>
              <a:rPr lang="en-US"/>
            </a:br>
            <a:r>
              <a:rPr lang="en-US"/>
              <a:t>Leer la frase con pausa. No apurar.</a:t>
            </a:r>
            <a:br>
              <a:rPr lang="en-US"/>
            </a:br>
            <a:r>
              <a:rPr lang="en-US"/>
              <a:t>Repasar los tres takeaways verbalmente: "Se van con tres cosas hoy: primero, la cultura hace o rompe todo. Segundo, la técnica sin métricas de carbono y sostenibilidad ya quedó obsoleta. Tercero, el futuro que describimos no es ciencia ficción, es el estado del arte hoy."</a:t>
            </a:r>
            <a:br>
              <a:rPr lang="en-US"/>
            </a:br>
            <a:r>
              <a:rPr lang="en-US"/>
              <a:t>CALL TO ACTION — adaptar según contexto:</a:t>
            </a:r>
            <a:br>
              <a:rPr lang="en-US"/>
            </a:br>
            <a:r>
              <a:rPr lang="en-US"/>
              <a:t>  Para estudiantes: "Si quieren trabajar en esto en serio, el Laboratorio INFRAIT es el lugar. Proyectos reales, problemas reales."</a:t>
            </a:r>
            <a:br>
              <a:rPr lang="en-US"/>
            </a:br>
            <a:r>
              <a:rPr lang="en-US"/>
              <a:t>  Para graduados: "Si ya trabajan en la industria, les dejo el desafío: ¿cuánto carbono emite su sistema hoy? Si no lo saben, ahí está el primer paso."</a:t>
            </a:r>
            <a:br>
              <a:rPr lang="en-US"/>
            </a:br>
            <a:r>
              <a:rPr lang="en-US"/>
              <a:t>  Para docentes: "Si quieren incorporar estos contenidos en sus materias, conversemos. Tenemos material, casos y ganas de colaborar."</a:t>
            </a:r>
            <a:br>
              <a:rPr lang="en-US"/>
            </a:br>
            <a:r>
              <a:rPr lang="en-US"/>
              <a:t>Abrir preguntas: "Tienen 5 minutos. ¿Qué se llevan, qué les genera dudas?"</a:t>
            </a:r>
            <a:endParaRPr/>
          </a:p>
        </p:txBody>
      </p:sp>
      <p:sp>
        <p:nvSpPr>
          <p:cNvPr id="417" name="Google Shape;41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youtube.com/watch?v=uYQR5ktq7W0" TargetMode="External"/><Relationship Id="rId4" Type="http://schemas.openxmlformats.org/officeDocument/2006/relationships/hyperlink" Target="http://www.youtube.com/watch?v=uYQR5ktq7W0" TargetMode="External"/><Relationship Id="rId5"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5" name="Shape 15"/>
        <p:cNvGrpSpPr/>
        <p:nvPr/>
      </p:nvGrpSpPr>
      <p:grpSpPr>
        <a:xfrm>
          <a:off x="0" y="0"/>
          <a:ext cx="0" cy="0"/>
          <a:chOff x="0" y="0"/>
          <a:chExt cx="0" cy="0"/>
        </a:xfrm>
      </p:grpSpPr>
      <p:sp>
        <p:nvSpPr>
          <p:cNvPr id="16" name="Google Shape;16;p3"/>
          <p:cNvSpPr/>
          <p:nvPr/>
        </p:nvSpPr>
        <p:spPr>
          <a:xfrm>
            <a:off x="8869680" y="0"/>
            <a:ext cx="274320" cy="514350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 name="Google Shape;17;p3"/>
          <p:cNvCxnSpPr/>
          <p:nvPr/>
        </p:nvCxnSpPr>
        <p:spPr>
          <a:xfrm>
            <a:off x="457200" y="502920"/>
            <a:ext cx="8046720" cy="0"/>
          </a:xfrm>
          <a:prstGeom prst="straightConnector1">
            <a:avLst/>
          </a:prstGeom>
          <a:noFill/>
          <a:ln cap="flat" cmpd="sng" w="12700">
            <a:solidFill>
              <a:srgbClr val="BEF264"/>
            </a:solidFill>
            <a:prstDash val="solid"/>
            <a:round/>
            <a:headEnd len="sm" w="sm" type="none"/>
            <a:tailEnd len="sm" w="sm" type="none"/>
          </a:ln>
        </p:spPr>
      </p:cxnSp>
      <p:sp>
        <p:nvSpPr>
          <p:cNvPr id="18" name="Google Shape;18;p3"/>
          <p:cNvSpPr/>
          <p:nvPr/>
        </p:nvSpPr>
        <p:spPr>
          <a:xfrm>
            <a:off x="457200" y="658368"/>
            <a:ext cx="749808" cy="29260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457200" y="658368"/>
            <a:ext cx="749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100"/>
              <a:buFont typeface="Calibri"/>
              <a:buNone/>
            </a:pPr>
            <a:r>
              <a:rPr b="1" i="0" lang="en-US" sz="1100" u="none" cap="none" strike="noStrike">
                <a:solidFill>
                  <a:srgbClr val="0A0A0A"/>
                </a:solidFill>
                <a:latin typeface="Calibri"/>
                <a:ea typeface="Calibri"/>
                <a:cs typeface="Calibri"/>
                <a:sym typeface="Calibri"/>
              </a:rPr>
              <a:t>2026</a:t>
            </a:r>
            <a:endParaRPr b="0" i="0" sz="1100" u="none" cap="none" strike="noStrike">
              <a:solidFill>
                <a:schemeClr val="dk1"/>
              </a:solidFill>
              <a:latin typeface="Calibri"/>
              <a:ea typeface="Calibri"/>
              <a:cs typeface="Calibri"/>
              <a:sym typeface="Calibri"/>
            </a:endParaRPr>
          </a:p>
        </p:txBody>
      </p:sp>
      <p:sp>
        <p:nvSpPr>
          <p:cNvPr id="20" name="Google Shape;20;p3"/>
          <p:cNvSpPr/>
          <p:nvPr/>
        </p:nvSpPr>
        <p:spPr>
          <a:xfrm>
            <a:off x="1371600" y="704088"/>
            <a:ext cx="7132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UTN FRLP · Jornadas de Formación Profesional · Laboratorio INFRAIT</a:t>
            </a:r>
            <a:endParaRPr b="0" i="0" sz="1000" u="none" cap="none" strike="noStrike">
              <a:solidFill>
                <a:schemeClr val="dk1"/>
              </a:solidFill>
              <a:latin typeface="Calibri"/>
              <a:ea typeface="Calibri"/>
              <a:cs typeface="Calibri"/>
              <a:sym typeface="Calibri"/>
            </a:endParaRPr>
          </a:p>
        </p:txBody>
      </p:sp>
      <p:sp>
        <p:nvSpPr>
          <p:cNvPr id="21" name="Google Shape;21;p3"/>
          <p:cNvSpPr/>
          <p:nvPr/>
        </p:nvSpPr>
        <p:spPr>
          <a:xfrm>
            <a:off x="457200" y="114300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Metodologías DevOps</a:t>
            </a:r>
            <a:endParaRPr b="0" i="0" sz="5200" u="none" cap="none" strike="noStrike">
              <a:solidFill>
                <a:schemeClr val="dk1"/>
              </a:solidFill>
              <a:latin typeface="Calibri"/>
              <a:ea typeface="Calibri"/>
              <a:cs typeface="Calibri"/>
              <a:sym typeface="Calibri"/>
            </a:endParaRPr>
          </a:p>
        </p:txBody>
      </p:sp>
      <p:sp>
        <p:nvSpPr>
          <p:cNvPr id="22" name="Google Shape;22;p3"/>
          <p:cNvSpPr/>
          <p:nvPr/>
        </p:nvSpPr>
        <p:spPr>
          <a:xfrm>
            <a:off x="457200" y="2103120"/>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3400"/>
              <a:buFont typeface="Calibri"/>
              <a:buNone/>
            </a:pPr>
            <a:r>
              <a:rPr b="0" i="0" lang="en-US" sz="3400" u="none" cap="none" strike="noStrike">
                <a:solidFill>
                  <a:srgbClr val="BEF264"/>
                </a:solidFill>
                <a:latin typeface="Calibri"/>
                <a:ea typeface="Calibri"/>
                <a:cs typeface="Calibri"/>
                <a:sym typeface="Calibri"/>
              </a:rPr>
              <a:t>para el Desarrollo Sostenible</a:t>
            </a:r>
            <a:endParaRPr b="0" i="0" sz="3400" u="none" cap="none" strike="noStrike">
              <a:solidFill>
                <a:schemeClr val="dk1"/>
              </a:solidFill>
              <a:latin typeface="Calibri"/>
              <a:ea typeface="Calibri"/>
              <a:cs typeface="Calibri"/>
              <a:sym typeface="Calibri"/>
            </a:endParaRPr>
          </a:p>
        </p:txBody>
      </p:sp>
      <p:sp>
        <p:nvSpPr>
          <p:cNvPr id="23" name="Google Shape;23;p3"/>
          <p:cNvSpPr/>
          <p:nvPr/>
        </p:nvSpPr>
        <p:spPr>
          <a:xfrm>
            <a:off x="457200" y="2633472"/>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2800"/>
              <a:buFont typeface="Calibri"/>
              <a:buNone/>
            </a:pPr>
            <a:r>
              <a:rPr b="0" i="0" lang="en-US" sz="2800" u="none" cap="none" strike="noStrike">
                <a:solidFill>
                  <a:srgbClr val="BEF264"/>
                </a:solidFill>
                <a:latin typeface="Calibri"/>
                <a:ea typeface="Calibri"/>
                <a:cs typeface="Calibri"/>
                <a:sym typeface="Calibri"/>
              </a:rPr>
              <a:t>de Sistemas Digitales</a:t>
            </a:r>
            <a:endParaRPr b="0" i="0" sz="2800" u="none" cap="none" strike="noStrike">
              <a:solidFill>
                <a:schemeClr val="dk1"/>
              </a:solidFill>
              <a:latin typeface="Calibri"/>
              <a:ea typeface="Calibri"/>
              <a:cs typeface="Calibri"/>
              <a:sym typeface="Calibri"/>
            </a:endParaRPr>
          </a:p>
        </p:txBody>
      </p:sp>
      <p:cxnSp>
        <p:nvCxnSpPr>
          <p:cNvPr id="24" name="Google Shape;24;p3"/>
          <p:cNvCxnSpPr/>
          <p:nvPr/>
        </p:nvCxnSpPr>
        <p:spPr>
          <a:xfrm>
            <a:off x="457200" y="3310128"/>
            <a:ext cx="5029200" cy="0"/>
          </a:xfrm>
          <a:prstGeom prst="straightConnector1">
            <a:avLst/>
          </a:prstGeom>
          <a:noFill/>
          <a:ln cap="flat" cmpd="sng" w="9525">
            <a:solidFill>
              <a:srgbClr val="7A7A7A"/>
            </a:solidFill>
            <a:prstDash val="solid"/>
            <a:round/>
            <a:headEnd len="sm" w="sm" type="none"/>
            <a:tailEnd len="sm" w="sm" type="none"/>
          </a:ln>
        </p:spPr>
      </p:cxnSp>
      <p:sp>
        <p:nvSpPr>
          <p:cNvPr id="25" name="Google Shape;25;p3"/>
          <p:cNvSpPr/>
          <p:nvPr/>
        </p:nvSpPr>
        <p:spPr>
          <a:xfrm>
            <a:off x="457200" y="3456432"/>
            <a:ext cx="80467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7A7A"/>
              </a:buClr>
              <a:buSzPts val="1050"/>
              <a:buFont typeface="Calibri"/>
              <a:buNone/>
            </a:pPr>
            <a:r>
              <a:rPr b="0" i="0" lang="en-US" sz="1050" u="none" cap="none" strike="noStrike">
                <a:solidFill>
                  <a:srgbClr val="7A7A7A"/>
                </a:solidFill>
                <a:latin typeface="Calibri"/>
                <a:ea typeface="Calibri"/>
                <a:cs typeface="Calibri"/>
                <a:sym typeface="Calibri"/>
              </a:rPr>
              <a:t>Cultura · GreenOps · Arquitecturas de Bajo Impacto · IA Local · SRE Evolucionado</a:t>
            </a:r>
            <a:endParaRPr b="0" i="0" sz="1050" u="none" cap="none" strike="noStrike">
              <a:solidFill>
                <a:schemeClr val="dk1"/>
              </a:solidFill>
              <a:latin typeface="Calibri"/>
              <a:ea typeface="Calibri"/>
              <a:cs typeface="Calibri"/>
              <a:sym typeface="Calibri"/>
            </a:endParaRPr>
          </a:p>
        </p:txBody>
      </p:sp>
      <p:sp>
        <p:nvSpPr>
          <p:cNvPr id="26" name="Google Shape;26;p3"/>
          <p:cNvSpPr/>
          <p:nvPr/>
        </p:nvSpPr>
        <p:spPr>
          <a:xfrm>
            <a:off x="457200" y="4663440"/>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300"/>
              <a:buFont typeface="Calibri"/>
              <a:buNone/>
            </a:pPr>
            <a:r>
              <a:rPr b="1" i="0" lang="en-US" sz="1300" u="none" cap="none" strike="noStrike">
                <a:solidFill>
                  <a:srgbClr val="BEF264"/>
                </a:solidFill>
                <a:latin typeface="Calibri"/>
                <a:ea typeface="Calibri"/>
                <a:cs typeface="Calibri"/>
                <a:sym typeface="Calibri"/>
              </a:rPr>
              <a:t>INFRAIT</a:t>
            </a:r>
            <a:endParaRPr b="0" i="0" sz="1300" u="none" cap="none" strike="noStrike">
              <a:solidFill>
                <a:schemeClr val="dk1"/>
              </a:solidFill>
              <a:latin typeface="Calibri"/>
              <a:ea typeface="Calibri"/>
              <a:cs typeface="Calibri"/>
              <a:sym typeface="Calibri"/>
            </a:endParaRPr>
          </a:p>
        </p:txBody>
      </p:sp>
      <p:cxnSp>
        <p:nvCxnSpPr>
          <p:cNvPr id="27" name="Google Shape;27;p3"/>
          <p:cNvCxnSpPr/>
          <p:nvPr/>
        </p:nvCxnSpPr>
        <p:spPr>
          <a:xfrm>
            <a:off x="457200" y="5047488"/>
            <a:ext cx="8046720" cy="0"/>
          </a:xfrm>
          <a:prstGeom prst="straightConnector1">
            <a:avLst/>
          </a:prstGeom>
          <a:noFill/>
          <a:ln cap="flat" cmpd="sng" w="9525">
            <a:solidFill>
              <a:srgbClr val="7A7A7A"/>
            </a:solidFill>
            <a:prstDash val="solid"/>
            <a:round/>
            <a:headEnd len="sm" w="sm" type="none"/>
            <a:tailEnd len="sm" w="sm" type="none"/>
          </a:ln>
        </p:spPr>
      </p:cxnSp>
      <p:sp>
        <p:nvSpPr>
          <p:cNvPr id="28" name="Google Shape;28;p3"/>
          <p:cNvSpPr/>
          <p:nvPr/>
        </p:nvSpPr>
        <p:spPr>
          <a:xfrm>
            <a:off x="457200" y="4882896"/>
            <a:ext cx="80467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7A7A"/>
              </a:buClr>
              <a:buSzPts val="900"/>
              <a:buFont typeface="Calibri"/>
              <a:buNone/>
            </a:pPr>
            <a:r>
              <a:rPr b="0" i="0" lang="en-US" sz="900" u="none" cap="none" strike="noStrike">
                <a:solidFill>
                  <a:srgbClr val="7A7A7A"/>
                </a:solidFill>
                <a:latin typeface="Calibri"/>
                <a:ea typeface="Calibri"/>
                <a:cs typeface="Calibri"/>
                <a:sym typeface="Calibri"/>
              </a:rPr>
              <a:t>30 min · 5' intro + 20' contenido + 5' preguntas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FE6"/>
        </a:solidFill>
      </p:bgPr>
    </p:bg>
    <p:spTree>
      <p:nvGrpSpPr>
        <p:cNvPr id="33" name="Shape 33"/>
        <p:cNvGrpSpPr/>
        <p:nvPr/>
      </p:nvGrpSpPr>
      <p:grpSpPr>
        <a:xfrm>
          <a:off x="0" y="0"/>
          <a:ext cx="0" cy="0"/>
          <a:chOff x="0" y="0"/>
          <a:chExt cx="0" cy="0"/>
        </a:xfrm>
      </p:grpSpPr>
      <p:sp>
        <p:nvSpPr>
          <p:cNvPr id="34" name="Google Shape;34;p4"/>
          <p:cNvSpPr/>
          <p:nvPr/>
        </p:nvSpPr>
        <p:spPr>
          <a:xfrm>
            <a:off x="0" y="0"/>
            <a:ext cx="54864" cy="514350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274320" y="274320"/>
            <a:ext cx="3657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900"/>
              <a:buFont typeface="Calibri"/>
              <a:buNone/>
            </a:pPr>
            <a:r>
              <a:rPr b="1" i="0" lang="en-US" sz="900" u="none" cap="none" strike="noStrike">
                <a:solidFill>
                  <a:srgbClr val="5A5A5A"/>
                </a:solidFill>
                <a:latin typeface="Calibri"/>
                <a:ea typeface="Calibri"/>
                <a:cs typeface="Calibri"/>
                <a:sym typeface="Calibri"/>
              </a:rPr>
              <a:t>CONEXIÓN CON GMET</a:t>
            </a:r>
            <a:endParaRPr b="0" i="0" sz="900" u="none" cap="none" strike="noStrike">
              <a:solidFill>
                <a:schemeClr val="dk1"/>
              </a:solidFill>
              <a:latin typeface="Calibri"/>
              <a:ea typeface="Calibri"/>
              <a:cs typeface="Calibri"/>
              <a:sym typeface="Calibri"/>
            </a:endParaRPr>
          </a:p>
        </p:txBody>
      </p:sp>
      <p:sp>
        <p:nvSpPr>
          <p:cNvPr id="36" name="Google Shape;36;p4"/>
          <p:cNvSpPr/>
          <p:nvPr/>
        </p:nvSpPr>
        <p:spPr>
          <a:xfrm>
            <a:off x="274320" y="548640"/>
            <a:ext cx="8412480" cy="9601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600"/>
              <a:buFont typeface="Calibri"/>
              <a:buNone/>
            </a:pPr>
            <a:r>
              <a:rPr b="1" i="0" lang="en-US" sz="3600" u="none" cap="none" strike="noStrike">
                <a:solidFill>
                  <a:srgbClr val="1A1A1A"/>
                </a:solidFill>
                <a:latin typeface="Calibri"/>
                <a:ea typeface="Calibri"/>
                <a:cs typeface="Calibri"/>
                <a:sym typeface="Calibri"/>
              </a:rPr>
              <a:t>La misma empatía.</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1A"/>
              </a:buClr>
              <a:buSzPts val="3600"/>
              <a:buFont typeface="Calibri"/>
              <a:buNone/>
            </a:pPr>
            <a:r>
              <a:rPr b="1" i="0" lang="en-US" sz="3600" u="none" cap="none" strike="noStrike">
                <a:solidFill>
                  <a:srgbClr val="1A1A1A"/>
                </a:solidFill>
                <a:latin typeface="Calibri"/>
                <a:ea typeface="Calibri"/>
                <a:cs typeface="Calibri"/>
                <a:sym typeface="Calibri"/>
              </a:rPr>
              <a:t>Distinto dominio.</a:t>
            </a:r>
            <a:endParaRPr b="0" i="0" sz="3600" u="none" cap="none" strike="noStrike">
              <a:solidFill>
                <a:schemeClr val="dk1"/>
              </a:solidFill>
              <a:latin typeface="Calibri"/>
              <a:ea typeface="Calibri"/>
              <a:cs typeface="Calibri"/>
              <a:sym typeface="Calibri"/>
            </a:endParaRPr>
          </a:p>
        </p:txBody>
      </p:sp>
      <p:cxnSp>
        <p:nvCxnSpPr>
          <p:cNvPr id="37" name="Google Shape;37;p4"/>
          <p:cNvCxnSpPr/>
          <p:nvPr/>
        </p:nvCxnSpPr>
        <p:spPr>
          <a:xfrm>
            <a:off x="274320" y="1600200"/>
            <a:ext cx="8412480" cy="0"/>
          </a:xfrm>
          <a:prstGeom prst="straightConnector1">
            <a:avLst/>
          </a:prstGeom>
          <a:noFill/>
          <a:ln cap="flat" cmpd="sng" w="9525">
            <a:solidFill>
              <a:srgbClr val="DDD8CF"/>
            </a:solidFill>
            <a:prstDash val="solid"/>
            <a:round/>
            <a:headEnd len="sm" w="sm" type="none"/>
            <a:tailEnd len="sm" w="sm" type="none"/>
          </a:ln>
        </p:spPr>
      </p:cxnSp>
      <p:sp>
        <p:nvSpPr>
          <p:cNvPr id="38" name="Google Shape;38;p4"/>
          <p:cNvSpPr/>
          <p:nvPr/>
        </p:nvSpPr>
        <p:spPr>
          <a:xfrm>
            <a:off x="274320" y="1737360"/>
            <a:ext cx="3840480" cy="301752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274320" y="1737360"/>
            <a:ext cx="3840480" cy="45720"/>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457200" y="1828800"/>
            <a:ext cx="3474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GMET — Diseño Inclusivo</a:t>
            </a:r>
            <a:endParaRPr b="0" i="0" sz="1300" u="none" cap="none" strike="noStrike">
              <a:solidFill>
                <a:schemeClr val="dk1"/>
              </a:solidFill>
              <a:latin typeface="Calibri"/>
              <a:ea typeface="Calibri"/>
              <a:cs typeface="Calibri"/>
              <a:sym typeface="Calibri"/>
            </a:endParaRPr>
          </a:p>
        </p:txBody>
      </p:sp>
      <p:sp>
        <p:nvSpPr>
          <p:cNvPr id="41" name="Google Shape;41;p4"/>
          <p:cNvSpPr/>
          <p:nvPr/>
        </p:nvSpPr>
        <p:spPr>
          <a:xfrm>
            <a:off x="457200" y="2212848"/>
            <a:ext cx="34747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250"/>
              <a:buFont typeface="Calibri"/>
              <a:buNone/>
            </a:pPr>
            <a:r>
              <a:rPr b="0" i="1" lang="en-US" sz="1250" u="none" cap="none" strike="noStrike">
                <a:solidFill>
                  <a:srgbClr val="5A5A5A"/>
                </a:solidFill>
                <a:latin typeface="Calibri"/>
                <a:ea typeface="Calibri"/>
                <a:cs typeface="Calibri"/>
                <a:sym typeface="Calibri"/>
              </a:rPr>
              <a:t>"Un mundo donde los crash dummies no</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A5A"/>
              </a:buClr>
              <a:buSzPts val="1250"/>
              <a:buFont typeface="Calibri"/>
              <a:buNone/>
            </a:pPr>
            <a:r>
              <a:rPr b="0" i="1" lang="en-US" sz="1250" u="none" cap="none" strike="noStrike">
                <a:solidFill>
                  <a:srgbClr val="5A5A5A"/>
                </a:solidFill>
                <a:latin typeface="Calibri"/>
                <a:ea typeface="Calibri"/>
                <a:cs typeface="Calibri"/>
                <a:sym typeface="Calibri"/>
              </a:rPr>
              <a:t>representan a la mujer, es un mundo</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A5A"/>
              </a:buClr>
              <a:buSzPts val="1250"/>
              <a:buFont typeface="Calibri"/>
              <a:buNone/>
            </a:pPr>
            <a:r>
              <a:rPr b="0" i="1" lang="en-US" sz="1250" u="none" cap="none" strike="noStrike">
                <a:solidFill>
                  <a:srgbClr val="5A5A5A"/>
                </a:solidFill>
                <a:latin typeface="Calibri"/>
                <a:ea typeface="Calibri"/>
                <a:cs typeface="Calibri"/>
                <a:sym typeface="Calibri"/>
              </a:rPr>
              <a:t>incompleto."</a:t>
            </a:r>
            <a:endParaRPr b="0" i="0" sz="1250" u="none" cap="none" strike="noStrike">
              <a:solidFill>
                <a:schemeClr val="dk1"/>
              </a:solidFill>
              <a:latin typeface="Calibri"/>
              <a:ea typeface="Calibri"/>
              <a:cs typeface="Calibri"/>
              <a:sym typeface="Calibri"/>
            </a:endParaRPr>
          </a:p>
        </p:txBody>
      </p:sp>
      <p:cxnSp>
        <p:nvCxnSpPr>
          <p:cNvPr id="42" name="Google Shape;42;p4"/>
          <p:cNvCxnSpPr/>
          <p:nvPr/>
        </p:nvCxnSpPr>
        <p:spPr>
          <a:xfrm>
            <a:off x="457200" y="3063240"/>
            <a:ext cx="3474720" cy="0"/>
          </a:xfrm>
          <a:prstGeom prst="straightConnector1">
            <a:avLst/>
          </a:prstGeom>
          <a:noFill/>
          <a:ln cap="flat" cmpd="sng" w="9525">
            <a:solidFill>
              <a:srgbClr val="DDD8CF"/>
            </a:solidFill>
            <a:prstDash val="solid"/>
            <a:round/>
            <a:headEnd len="sm" w="sm" type="none"/>
            <a:tailEnd len="sm" w="sm" type="none"/>
          </a:ln>
        </p:spPr>
      </p:cxnSp>
      <p:sp>
        <p:nvSpPr>
          <p:cNvPr id="43" name="Google Shape;43;p4"/>
          <p:cNvSpPr/>
          <p:nvPr/>
        </p:nvSpPr>
        <p:spPr>
          <a:xfrm>
            <a:off x="457200" y="3154680"/>
            <a:ext cx="3474720" cy="1417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1A1A"/>
              </a:buClr>
              <a:buSzPts val="1200"/>
              <a:buFont typeface="Calibri"/>
              <a:buChar char="•"/>
            </a:pPr>
            <a:r>
              <a:rPr b="0" i="0" lang="en-US" sz="1200" u="none" cap="none" strike="noStrike">
                <a:solidFill>
                  <a:srgbClr val="1A1A1A"/>
                </a:solidFill>
                <a:latin typeface="Calibri"/>
                <a:ea typeface="Calibri"/>
                <a:cs typeface="Calibri"/>
                <a:sym typeface="Calibri"/>
              </a:rPr>
              <a:t>Incluir todas las miradas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1A1A"/>
              </a:buClr>
              <a:buSzPts val="1200"/>
              <a:buFont typeface="Calibri"/>
              <a:buChar char="•"/>
            </a:pPr>
            <a:r>
              <a:rPr b="0" i="0" lang="en-US" sz="1200" u="none" cap="none" strike="noStrike">
                <a:solidFill>
                  <a:srgbClr val="1A1A1A"/>
                </a:solidFill>
                <a:latin typeface="Calibri"/>
                <a:ea typeface="Calibri"/>
                <a:cs typeface="Calibri"/>
                <a:sym typeface="Calibri"/>
              </a:rPr>
              <a:t>Perspectiva humana desde el diseño</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1A1A"/>
              </a:buClr>
              <a:buSzPts val="1200"/>
              <a:buFont typeface="Calibri"/>
              <a:buChar char="•"/>
            </a:pPr>
            <a:r>
              <a:rPr b="0" i="0" lang="en-US" sz="1200" u="none" cap="none" strike="noStrike">
                <a:solidFill>
                  <a:srgbClr val="1A1A1A"/>
                </a:solidFill>
                <a:latin typeface="Calibri"/>
                <a:ea typeface="Calibri"/>
                <a:cs typeface="Calibri"/>
                <a:sym typeface="Calibri"/>
              </a:rPr>
              <a:t>El producto como espejo de la sociedad</a:t>
            </a:r>
            <a:endParaRPr b="0" i="0" sz="1200" u="none" cap="none" strike="noStrike">
              <a:solidFill>
                <a:schemeClr val="dk1"/>
              </a:solidFill>
              <a:latin typeface="Calibri"/>
              <a:ea typeface="Calibri"/>
              <a:cs typeface="Calibri"/>
              <a:sym typeface="Calibri"/>
            </a:endParaRPr>
          </a:p>
        </p:txBody>
      </p:sp>
      <p:sp>
        <p:nvSpPr>
          <p:cNvPr id="44" name="Google Shape;44;p4"/>
          <p:cNvSpPr/>
          <p:nvPr/>
        </p:nvSpPr>
        <p:spPr>
          <a:xfrm>
            <a:off x="4206240" y="2651760"/>
            <a:ext cx="64008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94E"/>
              </a:buClr>
              <a:buSzPts val="2800"/>
              <a:buFont typeface="Calibri"/>
              <a:buNone/>
            </a:pPr>
            <a:r>
              <a:rPr b="1" i="0" lang="en-US" sz="2800" u="none" cap="none" strike="noStrike">
                <a:solidFill>
                  <a:srgbClr val="A8D94E"/>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45" name="Google Shape;45;p4"/>
          <p:cNvSpPr/>
          <p:nvPr/>
        </p:nvSpPr>
        <p:spPr>
          <a:xfrm>
            <a:off x="4937760" y="1737360"/>
            <a:ext cx="3840480" cy="301752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4937760" y="1737360"/>
            <a:ext cx="384048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5120640" y="1828800"/>
            <a:ext cx="3474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0A0A"/>
              </a:buClr>
              <a:buSzPts val="1300"/>
              <a:buFont typeface="Calibri"/>
              <a:buNone/>
            </a:pPr>
            <a:r>
              <a:rPr b="1" i="0" lang="en-US" sz="1300" u="none" cap="none" strike="noStrike">
                <a:solidFill>
                  <a:srgbClr val="0A0A0A"/>
                </a:solidFill>
                <a:latin typeface="Calibri"/>
                <a:ea typeface="Calibri"/>
                <a:cs typeface="Calibri"/>
                <a:sym typeface="Calibri"/>
              </a:rPr>
              <a:t>DevOps — Ingeniería Sostenible</a:t>
            </a:r>
            <a:endParaRPr b="0" i="0" sz="1300" u="none" cap="none" strike="noStrike">
              <a:solidFill>
                <a:schemeClr val="dk1"/>
              </a:solidFill>
              <a:latin typeface="Calibri"/>
              <a:ea typeface="Calibri"/>
              <a:cs typeface="Calibri"/>
              <a:sym typeface="Calibri"/>
            </a:endParaRPr>
          </a:p>
        </p:txBody>
      </p:sp>
      <p:sp>
        <p:nvSpPr>
          <p:cNvPr id="48" name="Google Shape;48;p4"/>
          <p:cNvSpPr/>
          <p:nvPr/>
        </p:nvSpPr>
        <p:spPr>
          <a:xfrm>
            <a:off x="5120640" y="2212848"/>
            <a:ext cx="34747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250"/>
              <a:buFont typeface="Calibri"/>
              <a:buNone/>
            </a:pPr>
            <a:r>
              <a:rPr b="0" i="1" lang="en-US" sz="1250" u="none" cap="none" strike="noStrike">
                <a:solidFill>
                  <a:srgbClr val="5A5A5A"/>
                </a:solidFill>
                <a:latin typeface="Calibri"/>
                <a:ea typeface="Calibri"/>
                <a:cs typeface="Calibri"/>
                <a:sym typeface="Calibri"/>
              </a:rPr>
              <a:t>"La misma empatía radical aplicada</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A5A"/>
              </a:buClr>
              <a:buSzPts val="1250"/>
              <a:buFont typeface="Calibri"/>
              <a:buNone/>
            </a:pPr>
            <a:r>
              <a:rPr b="0" i="1" lang="en-US" sz="1250" u="none" cap="none" strike="noStrike">
                <a:solidFill>
                  <a:srgbClr val="5A5A5A"/>
                </a:solidFill>
                <a:latin typeface="Calibri"/>
                <a:ea typeface="Calibri"/>
                <a:cs typeface="Calibri"/>
                <a:sym typeface="Calibri"/>
              </a:rPr>
              <a:t>a la operación: para el negocio,</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A5A"/>
              </a:buClr>
              <a:buSzPts val="1250"/>
              <a:buFont typeface="Calibri"/>
              <a:buNone/>
            </a:pPr>
            <a:r>
              <a:rPr b="0" i="1" lang="en-US" sz="1250" u="none" cap="none" strike="noStrike">
                <a:solidFill>
                  <a:srgbClr val="5A5A5A"/>
                </a:solidFill>
                <a:latin typeface="Calibri"/>
                <a:ea typeface="Calibri"/>
                <a:cs typeface="Calibri"/>
                <a:sym typeface="Calibri"/>
              </a:rPr>
              <a:t>el planeta y las personas."</a:t>
            </a:r>
            <a:endParaRPr b="0" i="0" sz="1250" u="none" cap="none" strike="noStrike">
              <a:solidFill>
                <a:schemeClr val="dk1"/>
              </a:solidFill>
              <a:latin typeface="Calibri"/>
              <a:ea typeface="Calibri"/>
              <a:cs typeface="Calibri"/>
              <a:sym typeface="Calibri"/>
            </a:endParaRPr>
          </a:p>
        </p:txBody>
      </p:sp>
      <p:cxnSp>
        <p:nvCxnSpPr>
          <p:cNvPr id="49" name="Google Shape;49;p4"/>
          <p:cNvCxnSpPr/>
          <p:nvPr/>
        </p:nvCxnSpPr>
        <p:spPr>
          <a:xfrm>
            <a:off x="5120640" y="3063240"/>
            <a:ext cx="3474720" cy="0"/>
          </a:xfrm>
          <a:prstGeom prst="straightConnector1">
            <a:avLst/>
          </a:prstGeom>
          <a:noFill/>
          <a:ln cap="flat" cmpd="sng" w="9525">
            <a:solidFill>
              <a:srgbClr val="DDD8CF"/>
            </a:solidFill>
            <a:prstDash val="solid"/>
            <a:round/>
            <a:headEnd len="sm" w="sm" type="none"/>
            <a:tailEnd len="sm" w="sm" type="none"/>
          </a:ln>
        </p:spPr>
      </p:cxnSp>
      <p:sp>
        <p:nvSpPr>
          <p:cNvPr id="50" name="Google Shape;50;p4"/>
          <p:cNvSpPr/>
          <p:nvPr/>
        </p:nvSpPr>
        <p:spPr>
          <a:xfrm>
            <a:off x="5120640" y="3154680"/>
            <a:ext cx="3474720" cy="1417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A1A1A"/>
              </a:buClr>
              <a:buSzPts val="1200"/>
              <a:buFont typeface="Calibri"/>
              <a:buChar char="•"/>
            </a:pPr>
            <a:r>
              <a:rPr b="0" i="0" lang="en-US" sz="1200" u="none" cap="none" strike="noStrike">
                <a:solidFill>
                  <a:srgbClr val="1A1A1A"/>
                </a:solidFill>
                <a:latin typeface="Calibri"/>
                <a:ea typeface="Calibri"/>
                <a:cs typeface="Calibri"/>
                <a:sym typeface="Calibri"/>
              </a:rPr>
              <a:t>Sostenible para el negocio (costos)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1A1A"/>
              </a:buClr>
              <a:buSzPts val="1200"/>
              <a:buFont typeface="Calibri"/>
              <a:buChar char="•"/>
            </a:pPr>
            <a:r>
              <a:rPr b="0" i="0" lang="en-US" sz="1200" u="none" cap="none" strike="noStrike">
                <a:solidFill>
                  <a:srgbClr val="1A1A1A"/>
                </a:solidFill>
                <a:latin typeface="Calibri"/>
                <a:ea typeface="Calibri"/>
                <a:cs typeface="Calibri"/>
                <a:sym typeface="Calibri"/>
              </a:rPr>
              <a:t>Sostenible para el planeta (emisiones)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A1A1A"/>
              </a:buClr>
              <a:buSzPts val="1200"/>
              <a:buFont typeface="Calibri"/>
              <a:buChar char="•"/>
            </a:pPr>
            <a:r>
              <a:rPr b="0" i="0" lang="en-US" sz="1200" u="none" cap="none" strike="noStrike">
                <a:solidFill>
                  <a:srgbClr val="1A1A1A"/>
                </a:solidFill>
                <a:latin typeface="Calibri"/>
                <a:ea typeface="Calibri"/>
                <a:cs typeface="Calibri"/>
                <a:sym typeface="Calibri"/>
              </a:rPr>
              <a:t>Sostenible para las personas (burnout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55" name="Shape 55"/>
        <p:cNvGrpSpPr/>
        <p:nvPr/>
      </p:nvGrpSpPr>
      <p:grpSpPr>
        <a:xfrm>
          <a:off x="0" y="0"/>
          <a:ext cx="0" cy="0"/>
          <a:chOff x="0" y="0"/>
          <a:chExt cx="0" cy="0"/>
        </a:xfrm>
      </p:grpSpPr>
      <p:cxnSp>
        <p:nvCxnSpPr>
          <p:cNvPr id="56" name="Google Shape;56;p5"/>
          <p:cNvCxnSpPr/>
          <p:nvPr/>
        </p:nvCxnSpPr>
        <p:spPr>
          <a:xfrm>
            <a:off x="354530" y="268860"/>
            <a:ext cx="8412600" cy="0"/>
          </a:xfrm>
          <a:prstGeom prst="straightConnector1">
            <a:avLst/>
          </a:prstGeom>
          <a:noFill/>
          <a:ln cap="flat" cmpd="sng" w="12700">
            <a:solidFill>
              <a:srgbClr val="BEF264"/>
            </a:solidFill>
            <a:prstDash val="solid"/>
            <a:round/>
            <a:headEnd len="sm" w="sm" type="none"/>
            <a:tailEnd len="sm" w="sm" type="none"/>
          </a:ln>
        </p:spPr>
      </p:cxnSp>
      <p:sp>
        <p:nvSpPr>
          <p:cNvPr id="57" name="Google Shape;57;p5"/>
          <p:cNvSpPr/>
          <p:nvPr/>
        </p:nvSpPr>
        <p:spPr>
          <a:xfrm>
            <a:off x="0" y="73152"/>
            <a:ext cx="914400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900"/>
              <a:buFont typeface="Calibri"/>
              <a:buNone/>
            </a:pPr>
            <a:r>
              <a:rPr b="1" i="0" lang="en-US" sz="900" u="none" cap="none" strike="noStrike">
                <a:solidFill>
                  <a:srgbClr val="7A7A7A"/>
                </a:solidFill>
                <a:latin typeface="Calibri"/>
                <a:ea typeface="Calibri"/>
                <a:cs typeface="Calibri"/>
                <a:sym typeface="Calibri"/>
              </a:rPr>
              <a:t>— EL HOOK —</a:t>
            </a:r>
            <a:endParaRPr b="0" i="0" sz="900" u="none" cap="none" strike="noStrike">
              <a:solidFill>
                <a:schemeClr val="dk1"/>
              </a:solidFill>
              <a:latin typeface="Calibri"/>
              <a:ea typeface="Calibri"/>
              <a:cs typeface="Calibri"/>
              <a:sym typeface="Calibri"/>
            </a:endParaRPr>
          </a:p>
        </p:txBody>
      </p:sp>
      <p:sp>
        <p:nvSpPr>
          <p:cNvPr id="58" name="Google Shape;58;p5"/>
          <p:cNvSpPr/>
          <p:nvPr/>
        </p:nvSpPr>
        <p:spPr>
          <a:xfrm>
            <a:off x="365750" y="361497"/>
            <a:ext cx="5367600" cy="3218700"/>
          </a:xfrm>
          <a:prstGeom prst="rect">
            <a:avLst/>
          </a:prstGeom>
          <a:solidFill>
            <a:srgbClr val="1E1E1E"/>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365760" y="3704787"/>
            <a:ext cx="5120700" cy="29250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291635" y="3782450"/>
            <a:ext cx="51207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7A7A"/>
              </a:buClr>
              <a:buSzPts val="900"/>
              <a:buFont typeface="Calibri"/>
              <a:buNone/>
            </a:pPr>
            <a:r>
              <a:rPr b="0" i="0" lang="en-US" sz="900" u="none" cap="none" strike="noStrike">
                <a:solidFill>
                  <a:srgbClr val="7A7A7A"/>
                </a:solidFill>
                <a:latin typeface="Calibri"/>
                <a:ea typeface="Calibri"/>
                <a:cs typeface="Calibri"/>
                <a:sym typeface="Calibri"/>
              </a:rPr>
              <a:t>NATTV · Crash Dummy PSA · </a:t>
            </a:r>
            <a:r>
              <a:rPr lang="en-US" sz="900">
                <a:solidFill>
                  <a:srgbClr val="7A7A7A"/>
                </a:solidFill>
                <a:latin typeface="Calibri"/>
                <a:ea typeface="Calibri"/>
                <a:cs typeface="Calibri"/>
                <a:sym typeface="Calibri"/>
              </a:rPr>
              <a:t>80’s</a:t>
            </a:r>
            <a:r>
              <a:rPr b="0" i="0" lang="en-US" sz="900" u="none" cap="none" strike="noStrike">
                <a:solidFill>
                  <a:srgbClr val="7A7A7A"/>
                </a:solidFill>
                <a:latin typeface="Calibri"/>
                <a:ea typeface="Calibri"/>
                <a:cs typeface="Calibri"/>
                <a:sym typeface="Calibri"/>
              </a:rPr>
              <a:t>  </a:t>
            </a:r>
            <a:r>
              <a:rPr b="0" i="0" lang="en-US" sz="900" u="sng" cap="none" strike="noStrike">
                <a:solidFill>
                  <a:schemeClr val="hlink"/>
                </a:solidFill>
                <a:latin typeface="Calibri"/>
                <a:ea typeface="Calibri"/>
                <a:cs typeface="Calibri"/>
                <a:sym typeface="Calibri"/>
                <a:hlinkClick r:id="rId3"/>
              </a:rPr>
              <a:t>▶</a:t>
            </a:r>
            <a:r>
              <a:rPr b="0" i="0" lang="en-US" sz="900" u="none" cap="none" strike="noStrike">
                <a:solidFill>
                  <a:srgbClr val="7A7A7A"/>
                </a:solidFill>
                <a:latin typeface="Calibri"/>
                <a:ea typeface="Calibri"/>
                <a:cs typeface="Calibri"/>
                <a:sym typeface="Calibri"/>
              </a:rPr>
              <a:t> clic para reproducir</a:t>
            </a:r>
            <a:endParaRPr b="0" i="0" sz="900" u="none" cap="none" strike="noStrike">
              <a:solidFill>
                <a:schemeClr val="dk1"/>
              </a:solidFill>
              <a:latin typeface="Calibri"/>
              <a:ea typeface="Calibri"/>
              <a:cs typeface="Calibri"/>
              <a:sym typeface="Calibri"/>
            </a:endParaRPr>
          </a:p>
        </p:txBody>
      </p:sp>
      <p:sp>
        <p:nvSpPr>
          <p:cNvPr id="61" name="Google Shape;61;p5"/>
          <p:cNvSpPr/>
          <p:nvPr/>
        </p:nvSpPr>
        <p:spPr>
          <a:xfrm>
            <a:off x="5760720" y="347472"/>
            <a:ext cx="9144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8000"/>
              <a:buFont typeface="Calibri"/>
              <a:buNone/>
            </a:pPr>
            <a:r>
              <a:rPr b="0" i="0" lang="en-US" sz="8000" u="none" cap="none" strike="noStrike">
                <a:solidFill>
                  <a:srgbClr val="BEF264"/>
                </a:solidFill>
                <a:latin typeface="Calibri"/>
                <a:ea typeface="Calibri"/>
                <a:cs typeface="Calibri"/>
                <a:sym typeface="Calibri"/>
              </a:rPr>
              <a:t>“</a:t>
            </a:r>
            <a:endParaRPr b="0" i="0" sz="8000" u="none" cap="none" strike="noStrike">
              <a:solidFill>
                <a:schemeClr val="dk1"/>
              </a:solidFill>
              <a:latin typeface="Calibri"/>
              <a:ea typeface="Calibri"/>
              <a:cs typeface="Calibri"/>
              <a:sym typeface="Calibri"/>
            </a:endParaRPr>
          </a:p>
        </p:txBody>
      </p:sp>
      <p:sp>
        <p:nvSpPr>
          <p:cNvPr id="62" name="Google Shape;62;p5"/>
          <p:cNvSpPr/>
          <p:nvPr/>
        </p:nvSpPr>
        <p:spPr>
          <a:xfrm>
            <a:off x="5760720" y="868680"/>
            <a:ext cx="3017520" cy="12344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500"/>
              <a:buFont typeface="Calibri"/>
              <a:buNone/>
            </a:pPr>
            <a:r>
              <a:rPr b="0" i="0" lang="en-US" sz="1500" u="none" cap="none" strike="noStrike">
                <a:solidFill>
                  <a:srgbClr val="F0EBE2"/>
                </a:solidFill>
                <a:latin typeface="Calibri"/>
                <a:ea typeface="Calibri"/>
                <a:cs typeface="Calibri"/>
                <a:sym typeface="Calibri"/>
              </a:rPr>
              <a:t>Durante décadas,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EBE2"/>
              </a:buClr>
              <a:buSzPts val="1500"/>
              <a:buFont typeface="Calibri"/>
              <a:buNone/>
            </a:pPr>
            <a:r>
              <a:rPr b="0" i="0" lang="en-US" sz="1500" u="none" cap="none" strike="noStrike">
                <a:solidFill>
                  <a:srgbClr val="F0EBE2"/>
                </a:solidFill>
                <a:latin typeface="Calibri"/>
                <a:ea typeface="Calibri"/>
                <a:cs typeface="Calibri"/>
                <a:sym typeface="Calibri"/>
              </a:rPr>
              <a:t>diseñamos software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EBE2"/>
              </a:buClr>
              <a:buSzPts val="1500"/>
              <a:buFont typeface="Calibri"/>
              <a:buNone/>
            </a:pPr>
            <a:r>
              <a:rPr b="0" i="0" lang="en-US" sz="1500" u="none" cap="none" strike="noStrike">
                <a:solidFill>
                  <a:srgbClr val="F0EBE2"/>
                </a:solidFill>
                <a:latin typeface="Calibri"/>
                <a:ea typeface="Calibri"/>
                <a:cs typeface="Calibri"/>
                <a:sym typeface="Calibri"/>
              </a:rPr>
              <a:t>como los ingenieros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0EBE2"/>
              </a:buClr>
              <a:buSzPts val="1500"/>
              <a:buFont typeface="Calibri"/>
              <a:buNone/>
            </a:pPr>
            <a:r>
              <a:rPr b="0" i="0" lang="en-US" sz="1500" u="none" cap="none" strike="noStrike">
                <a:solidFill>
                  <a:srgbClr val="F0EBE2"/>
                </a:solidFill>
                <a:latin typeface="Calibri"/>
                <a:ea typeface="Calibri"/>
                <a:cs typeface="Calibri"/>
                <a:sym typeface="Calibri"/>
              </a:rPr>
              <a:t>automotrices de los '90:</a:t>
            </a:r>
            <a:endParaRPr b="0" i="0" sz="1500" u="none" cap="none" strike="noStrike">
              <a:solidFill>
                <a:schemeClr val="dk1"/>
              </a:solidFill>
              <a:latin typeface="Calibri"/>
              <a:ea typeface="Calibri"/>
              <a:cs typeface="Calibri"/>
              <a:sym typeface="Calibri"/>
            </a:endParaRPr>
          </a:p>
        </p:txBody>
      </p:sp>
      <p:cxnSp>
        <p:nvCxnSpPr>
          <p:cNvPr id="63" name="Google Shape;63;p5"/>
          <p:cNvCxnSpPr/>
          <p:nvPr/>
        </p:nvCxnSpPr>
        <p:spPr>
          <a:xfrm>
            <a:off x="5760720" y="2157984"/>
            <a:ext cx="3017520" cy="0"/>
          </a:xfrm>
          <a:prstGeom prst="straightConnector1">
            <a:avLst/>
          </a:prstGeom>
          <a:noFill/>
          <a:ln cap="flat" cmpd="sng" w="12700">
            <a:solidFill>
              <a:srgbClr val="BEF264"/>
            </a:solidFill>
            <a:prstDash val="solid"/>
            <a:round/>
            <a:headEnd len="sm" w="sm" type="none"/>
            <a:tailEnd len="sm" w="sm" type="none"/>
          </a:ln>
        </p:spPr>
      </p:cxnSp>
      <p:sp>
        <p:nvSpPr>
          <p:cNvPr id="64" name="Google Shape;64;p5"/>
          <p:cNvSpPr/>
          <p:nvPr/>
        </p:nvSpPr>
        <p:spPr>
          <a:xfrm>
            <a:off x="5760720" y="2267712"/>
            <a:ext cx="3017520" cy="1417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Elegante en el</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laboratorio.</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Catastrófico al</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chocar con la</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realidad.</a:t>
            </a:r>
            <a:endParaRPr b="0" i="0" sz="1700" u="none" cap="none" strike="noStrike">
              <a:solidFill>
                <a:schemeClr val="dk1"/>
              </a:solidFill>
              <a:latin typeface="Calibri"/>
              <a:ea typeface="Calibri"/>
              <a:cs typeface="Calibri"/>
              <a:sym typeface="Calibri"/>
            </a:endParaRPr>
          </a:p>
        </p:txBody>
      </p:sp>
      <p:sp>
        <p:nvSpPr>
          <p:cNvPr id="65" name="Google Shape;65;p5"/>
          <p:cNvSpPr/>
          <p:nvPr/>
        </p:nvSpPr>
        <p:spPr>
          <a:xfrm>
            <a:off x="365760" y="4050545"/>
            <a:ext cx="8412600" cy="85950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365760" y="4155330"/>
            <a:ext cx="84126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600"/>
              <a:buFont typeface="Calibri"/>
              <a:buNone/>
            </a:pPr>
            <a:r>
              <a:rPr b="1" i="0" lang="en-US" sz="1600" u="none" cap="none" strike="noStrike">
                <a:solidFill>
                  <a:srgbClr val="0A0A0A"/>
                </a:solidFill>
                <a:latin typeface="Calibri"/>
                <a:ea typeface="Calibri"/>
                <a:cs typeface="Calibri"/>
                <a:sym typeface="Calibri"/>
              </a:rPr>
              <a:t>No necesitamos héroes que no duermen.</a:t>
            </a:r>
            <a:endParaRPr b="0" i="0" sz="1600" u="none" cap="none" strike="noStrike">
              <a:solidFill>
                <a:schemeClr val="dk1"/>
              </a:solidFill>
              <a:latin typeface="Calibri"/>
              <a:ea typeface="Calibri"/>
              <a:cs typeface="Calibri"/>
              <a:sym typeface="Calibri"/>
            </a:endParaRPr>
          </a:p>
        </p:txBody>
      </p:sp>
      <p:sp>
        <p:nvSpPr>
          <p:cNvPr id="67" name="Google Shape;67;p5"/>
          <p:cNvSpPr/>
          <p:nvPr/>
        </p:nvSpPr>
        <p:spPr>
          <a:xfrm>
            <a:off x="365760" y="4502802"/>
            <a:ext cx="84126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600"/>
              <a:buFont typeface="Calibri"/>
              <a:buNone/>
            </a:pPr>
            <a:r>
              <a:rPr b="1" i="0" lang="en-US" sz="1600" u="none" cap="none" strike="noStrike">
                <a:solidFill>
                  <a:srgbClr val="0A0A0A"/>
                </a:solidFill>
                <a:latin typeface="Calibri"/>
                <a:ea typeface="Calibri"/>
                <a:cs typeface="Calibri"/>
                <a:sym typeface="Calibri"/>
              </a:rPr>
              <a:t>Necesitamos sistemas diseñados para sobrevivir.</a:t>
            </a:r>
            <a:endParaRPr b="0" i="0" sz="1600" u="none" cap="none" strike="noStrike">
              <a:solidFill>
                <a:schemeClr val="dk1"/>
              </a:solidFill>
              <a:latin typeface="Calibri"/>
              <a:ea typeface="Calibri"/>
              <a:cs typeface="Calibri"/>
              <a:sym typeface="Calibri"/>
            </a:endParaRPr>
          </a:p>
        </p:txBody>
      </p:sp>
      <p:pic>
        <p:nvPicPr>
          <p:cNvPr descr="This commercial appeared on #Videowave as part of a requirement to air PSAs when broadcast on the channel NATV. NATV transmitted via an abandoned satellite, before it burned up in the atmosphere. https://www.youtube.com/user/VideowaveMusic&#10;#CrashTestDummy" id="68" name="Google Shape;68;p5" title="Crash Test Dummy Commercial">
            <a:hlinkClick r:id="rId4"/>
          </p:cNvPr>
          <p:cNvPicPr preferRelativeResize="0"/>
          <p:nvPr/>
        </p:nvPicPr>
        <p:blipFill>
          <a:blip r:embed="rId5">
            <a:alphaModFix/>
          </a:blip>
          <a:stretch>
            <a:fillRect/>
          </a:stretch>
        </p:blipFill>
        <p:spPr>
          <a:xfrm>
            <a:off x="477675" y="496243"/>
            <a:ext cx="5120700" cy="288040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1000"/>
                                        <p:tgtEl>
                                          <p:spTgt spid="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FE6"/>
        </a:solidFill>
      </p:bgPr>
    </p:bg>
    <p:spTree>
      <p:nvGrpSpPr>
        <p:cNvPr id="73" name="Shape 73"/>
        <p:cNvGrpSpPr/>
        <p:nvPr/>
      </p:nvGrpSpPr>
      <p:grpSpPr>
        <a:xfrm>
          <a:off x="0" y="0"/>
          <a:ext cx="0" cy="0"/>
          <a:chOff x="0" y="0"/>
          <a:chExt cx="0" cy="0"/>
        </a:xfrm>
      </p:grpSpPr>
      <p:sp>
        <p:nvSpPr>
          <p:cNvPr id="74" name="Google Shape;74;p6"/>
          <p:cNvSpPr/>
          <p:nvPr/>
        </p:nvSpPr>
        <p:spPr>
          <a:xfrm>
            <a:off x="0" y="0"/>
            <a:ext cx="54864" cy="5143500"/>
          </a:xfrm>
          <a:prstGeom prst="rect">
            <a:avLst/>
          </a:prstGeom>
          <a:solidFill>
            <a:srgbClr val="141414"/>
          </a:solidFill>
          <a:ln cap="flat" cmpd="sng" w="127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274320" y="27432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900"/>
              <a:buFont typeface="Calibri"/>
              <a:buNone/>
            </a:pPr>
            <a:r>
              <a:rPr b="1" i="0" lang="en-US" sz="900" u="none" cap="none" strike="noStrike">
                <a:solidFill>
                  <a:srgbClr val="5A5A5A"/>
                </a:solidFill>
                <a:latin typeface="Calibri"/>
                <a:ea typeface="Calibri"/>
                <a:cs typeface="Calibri"/>
                <a:sym typeface="Calibri"/>
              </a:rPr>
              <a:t>AGENDA</a:t>
            </a:r>
            <a:endParaRPr b="0" i="0" sz="900" u="none" cap="none" strike="noStrike">
              <a:solidFill>
                <a:schemeClr val="dk1"/>
              </a:solidFill>
              <a:latin typeface="Calibri"/>
              <a:ea typeface="Calibri"/>
              <a:cs typeface="Calibri"/>
              <a:sym typeface="Calibri"/>
            </a:endParaRPr>
          </a:p>
        </p:txBody>
      </p:sp>
      <p:sp>
        <p:nvSpPr>
          <p:cNvPr id="76" name="Google Shape;76;p6"/>
          <p:cNvSpPr/>
          <p:nvPr/>
        </p:nvSpPr>
        <p:spPr>
          <a:xfrm>
            <a:off x="274320" y="566928"/>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Cinco bloques · 20 minutos</a:t>
            </a:r>
            <a:endParaRPr b="0" i="0" sz="3200" u="none" cap="none" strike="noStrike">
              <a:solidFill>
                <a:schemeClr val="dk1"/>
              </a:solidFill>
              <a:latin typeface="Calibri"/>
              <a:ea typeface="Calibri"/>
              <a:cs typeface="Calibri"/>
              <a:sym typeface="Calibri"/>
            </a:endParaRPr>
          </a:p>
        </p:txBody>
      </p:sp>
      <p:cxnSp>
        <p:nvCxnSpPr>
          <p:cNvPr id="77" name="Google Shape;77;p6"/>
          <p:cNvCxnSpPr/>
          <p:nvPr/>
        </p:nvCxnSpPr>
        <p:spPr>
          <a:xfrm>
            <a:off x="274320" y="1207008"/>
            <a:ext cx="8412480" cy="0"/>
          </a:xfrm>
          <a:prstGeom prst="straightConnector1">
            <a:avLst/>
          </a:prstGeom>
          <a:noFill/>
          <a:ln cap="flat" cmpd="sng" w="9525">
            <a:solidFill>
              <a:srgbClr val="DDD8CF"/>
            </a:solidFill>
            <a:prstDash val="solid"/>
            <a:round/>
            <a:headEnd len="sm" w="sm" type="none"/>
            <a:tailEnd len="sm" w="sm" type="none"/>
          </a:ln>
        </p:spPr>
      </p:cxnSp>
      <p:sp>
        <p:nvSpPr>
          <p:cNvPr id="78" name="Google Shape;78;p6"/>
          <p:cNvSpPr/>
          <p:nvPr/>
        </p:nvSpPr>
        <p:spPr>
          <a:xfrm>
            <a:off x="274320" y="1389888"/>
            <a:ext cx="50292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94E"/>
              </a:buClr>
              <a:buSzPts val="2200"/>
              <a:buFont typeface="Calibri"/>
              <a:buNone/>
            </a:pPr>
            <a:r>
              <a:rPr b="1" i="0" lang="en-US" sz="2200" u="none" cap="none" strike="noStrike">
                <a:solidFill>
                  <a:srgbClr val="A8D94E"/>
                </a:solidFill>
                <a:latin typeface="Calibri"/>
                <a:ea typeface="Calibri"/>
                <a:cs typeface="Calibri"/>
                <a:sym typeface="Calibri"/>
              </a:rPr>
              <a:t>01</a:t>
            </a:r>
            <a:endParaRPr b="0" i="0" sz="2200" u="none" cap="none" strike="noStrike">
              <a:solidFill>
                <a:schemeClr val="dk1"/>
              </a:solidFill>
              <a:latin typeface="Calibri"/>
              <a:ea typeface="Calibri"/>
              <a:cs typeface="Calibri"/>
              <a:sym typeface="Calibri"/>
            </a:endParaRPr>
          </a:p>
        </p:txBody>
      </p:sp>
      <p:sp>
        <p:nvSpPr>
          <p:cNvPr id="79" name="Google Shape;79;p6"/>
          <p:cNvSpPr/>
          <p:nvPr/>
        </p:nvSpPr>
        <p:spPr>
          <a:xfrm>
            <a:off x="868680" y="1435608"/>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400"/>
              <a:buFont typeface="Calibri"/>
              <a:buNone/>
            </a:pPr>
            <a:r>
              <a:rPr b="1" i="0" lang="en-US" sz="1400" u="none" cap="none" strike="noStrike">
                <a:solidFill>
                  <a:srgbClr val="1A1A1A"/>
                </a:solidFill>
                <a:latin typeface="Calibri"/>
                <a:ea typeface="Calibri"/>
                <a:cs typeface="Calibri"/>
                <a:sym typeface="Calibri"/>
              </a:rPr>
              <a:t>El Imperativo 2026</a:t>
            </a:r>
            <a:endParaRPr b="0" i="0" sz="1400" u="none" cap="none" strike="noStrike">
              <a:solidFill>
                <a:schemeClr val="dk1"/>
              </a:solidFill>
              <a:latin typeface="Calibri"/>
              <a:ea typeface="Calibri"/>
              <a:cs typeface="Calibri"/>
              <a:sym typeface="Calibri"/>
            </a:endParaRPr>
          </a:p>
        </p:txBody>
      </p:sp>
      <p:sp>
        <p:nvSpPr>
          <p:cNvPr id="80" name="Google Shape;80;p6"/>
          <p:cNvSpPr/>
          <p:nvPr/>
        </p:nvSpPr>
        <p:spPr>
          <a:xfrm>
            <a:off x="868680" y="1664208"/>
            <a:ext cx="78638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El costo energético de la computación y el fin del crecimiento infinito</a:t>
            </a:r>
            <a:endParaRPr b="0" i="0" sz="1100" u="none" cap="none" strike="noStrike">
              <a:solidFill>
                <a:schemeClr val="dk1"/>
              </a:solidFill>
              <a:latin typeface="Calibri"/>
              <a:ea typeface="Calibri"/>
              <a:cs typeface="Calibri"/>
              <a:sym typeface="Calibri"/>
            </a:endParaRPr>
          </a:p>
        </p:txBody>
      </p:sp>
      <p:cxnSp>
        <p:nvCxnSpPr>
          <p:cNvPr id="81" name="Google Shape;81;p6"/>
          <p:cNvCxnSpPr/>
          <p:nvPr/>
        </p:nvCxnSpPr>
        <p:spPr>
          <a:xfrm>
            <a:off x="274320" y="2011680"/>
            <a:ext cx="8412480" cy="0"/>
          </a:xfrm>
          <a:prstGeom prst="straightConnector1">
            <a:avLst/>
          </a:prstGeom>
          <a:noFill/>
          <a:ln cap="flat" cmpd="sng" w="9525">
            <a:solidFill>
              <a:srgbClr val="DDD8CF"/>
            </a:solidFill>
            <a:prstDash val="solid"/>
            <a:round/>
            <a:headEnd len="sm" w="sm" type="none"/>
            <a:tailEnd len="sm" w="sm" type="none"/>
          </a:ln>
        </p:spPr>
      </p:cxnSp>
      <p:sp>
        <p:nvSpPr>
          <p:cNvPr id="82" name="Google Shape;82;p6"/>
          <p:cNvSpPr/>
          <p:nvPr/>
        </p:nvSpPr>
        <p:spPr>
          <a:xfrm>
            <a:off x="274320" y="2093976"/>
            <a:ext cx="50292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94E"/>
              </a:buClr>
              <a:buSzPts val="2200"/>
              <a:buFont typeface="Calibri"/>
              <a:buNone/>
            </a:pPr>
            <a:r>
              <a:rPr b="1" i="0" lang="en-US" sz="2200" u="none" cap="none" strike="noStrike">
                <a:solidFill>
                  <a:srgbClr val="A8D94E"/>
                </a:solidFill>
                <a:latin typeface="Calibri"/>
                <a:ea typeface="Calibri"/>
                <a:cs typeface="Calibri"/>
                <a:sym typeface="Calibri"/>
              </a:rPr>
              <a:t>02</a:t>
            </a:r>
            <a:endParaRPr b="0" i="0" sz="2200" u="none" cap="none" strike="noStrike">
              <a:solidFill>
                <a:schemeClr val="dk1"/>
              </a:solidFill>
              <a:latin typeface="Calibri"/>
              <a:ea typeface="Calibri"/>
              <a:cs typeface="Calibri"/>
              <a:sym typeface="Calibri"/>
            </a:endParaRPr>
          </a:p>
        </p:txBody>
      </p:sp>
      <p:sp>
        <p:nvSpPr>
          <p:cNvPr id="83" name="Google Shape;83;p6"/>
          <p:cNvSpPr/>
          <p:nvPr/>
        </p:nvSpPr>
        <p:spPr>
          <a:xfrm>
            <a:off x="868680" y="2139696"/>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400"/>
              <a:buFont typeface="Calibri"/>
              <a:buNone/>
            </a:pPr>
            <a:r>
              <a:rPr b="1" i="0" lang="en-US" sz="1400" u="none" cap="none" strike="noStrike">
                <a:solidFill>
                  <a:srgbClr val="1A1A1A"/>
                </a:solidFill>
                <a:latin typeface="Calibri"/>
                <a:ea typeface="Calibri"/>
                <a:cs typeface="Calibri"/>
                <a:sym typeface="Calibri"/>
              </a:rPr>
              <a:t>GreenOps &amp; Ciclo Sostenible</a:t>
            </a:r>
            <a:endParaRPr b="0" i="0" sz="1400" u="none" cap="none" strike="noStrike">
              <a:solidFill>
                <a:schemeClr val="dk1"/>
              </a:solidFill>
              <a:latin typeface="Calibri"/>
              <a:ea typeface="Calibri"/>
              <a:cs typeface="Calibri"/>
              <a:sym typeface="Calibri"/>
            </a:endParaRPr>
          </a:p>
        </p:txBody>
      </p:sp>
      <p:sp>
        <p:nvSpPr>
          <p:cNvPr id="84" name="Google Shape;84;p6"/>
          <p:cNvSpPr/>
          <p:nvPr/>
        </p:nvSpPr>
        <p:spPr>
          <a:xfrm>
            <a:off x="868680" y="2368296"/>
            <a:ext cx="78638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Métricas de carbono integradas al pipeline CI/CD · SCI · Green Software Foundation</a:t>
            </a:r>
            <a:endParaRPr b="0" i="0" sz="1100" u="none" cap="none" strike="noStrike">
              <a:solidFill>
                <a:schemeClr val="dk1"/>
              </a:solidFill>
              <a:latin typeface="Calibri"/>
              <a:ea typeface="Calibri"/>
              <a:cs typeface="Calibri"/>
              <a:sym typeface="Calibri"/>
            </a:endParaRPr>
          </a:p>
        </p:txBody>
      </p:sp>
      <p:cxnSp>
        <p:nvCxnSpPr>
          <p:cNvPr id="85" name="Google Shape;85;p6"/>
          <p:cNvCxnSpPr/>
          <p:nvPr/>
        </p:nvCxnSpPr>
        <p:spPr>
          <a:xfrm>
            <a:off x="274320" y="2715768"/>
            <a:ext cx="8412480" cy="0"/>
          </a:xfrm>
          <a:prstGeom prst="straightConnector1">
            <a:avLst/>
          </a:prstGeom>
          <a:noFill/>
          <a:ln cap="flat" cmpd="sng" w="9525">
            <a:solidFill>
              <a:srgbClr val="DDD8CF"/>
            </a:solidFill>
            <a:prstDash val="solid"/>
            <a:round/>
            <a:headEnd len="sm" w="sm" type="none"/>
            <a:tailEnd len="sm" w="sm" type="none"/>
          </a:ln>
        </p:spPr>
      </p:cxnSp>
      <p:sp>
        <p:nvSpPr>
          <p:cNvPr id="86" name="Google Shape;86;p6"/>
          <p:cNvSpPr/>
          <p:nvPr/>
        </p:nvSpPr>
        <p:spPr>
          <a:xfrm>
            <a:off x="274320" y="2798064"/>
            <a:ext cx="50292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94E"/>
              </a:buClr>
              <a:buSzPts val="2200"/>
              <a:buFont typeface="Calibri"/>
              <a:buNone/>
            </a:pPr>
            <a:r>
              <a:rPr b="1" i="0" lang="en-US" sz="2200" u="none" cap="none" strike="noStrike">
                <a:solidFill>
                  <a:srgbClr val="A8D94E"/>
                </a:solidFill>
                <a:latin typeface="Calibri"/>
                <a:ea typeface="Calibri"/>
                <a:cs typeface="Calibri"/>
                <a:sym typeface="Calibri"/>
              </a:rPr>
              <a:t>03</a:t>
            </a:r>
            <a:endParaRPr b="0" i="0" sz="2200" u="none" cap="none" strike="noStrike">
              <a:solidFill>
                <a:schemeClr val="dk1"/>
              </a:solidFill>
              <a:latin typeface="Calibri"/>
              <a:ea typeface="Calibri"/>
              <a:cs typeface="Calibri"/>
              <a:sym typeface="Calibri"/>
            </a:endParaRPr>
          </a:p>
        </p:txBody>
      </p:sp>
      <p:sp>
        <p:nvSpPr>
          <p:cNvPr id="87" name="Google Shape;87;p6"/>
          <p:cNvSpPr/>
          <p:nvPr/>
        </p:nvSpPr>
        <p:spPr>
          <a:xfrm>
            <a:off x="868680" y="2843784"/>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400"/>
              <a:buFont typeface="Calibri"/>
              <a:buNone/>
            </a:pPr>
            <a:r>
              <a:rPr b="1" i="0" lang="en-US" sz="1400" u="none" cap="none" strike="noStrike">
                <a:solidFill>
                  <a:srgbClr val="1A1A1A"/>
                </a:solidFill>
                <a:latin typeface="Calibri"/>
                <a:ea typeface="Calibri"/>
                <a:cs typeface="Calibri"/>
                <a:sym typeface="Calibri"/>
              </a:rPr>
              <a:t>Arquitecturas de Bajo Impacto</a:t>
            </a:r>
            <a:endParaRPr b="0" i="0" sz="1400" u="none" cap="none" strike="noStrike">
              <a:solidFill>
                <a:schemeClr val="dk1"/>
              </a:solidFill>
              <a:latin typeface="Calibri"/>
              <a:ea typeface="Calibri"/>
              <a:cs typeface="Calibri"/>
              <a:sym typeface="Calibri"/>
            </a:endParaRPr>
          </a:p>
        </p:txBody>
      </p:sp>
      <p:sp>
        <p:nvSpPr>
          <p:cNvPr id="88" name="Google Shape;88;p6"/>
          <p:cNvSpPr/>
          <p:nvPr/>
        </p:nvSpPr>
        <p:spPr>
          <a:xfrm>
            <a:off x="868680" y="3072384"/>
            <a:ext cx="78638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Virtualización inteligente · Edge Computing · Orquestación carbon-aware</a:t>
            </a:r>
            <a:endParaRPr b="0" i="0" sz="1100" u="none" cap="none" strike="noStrike">
              <a:solidFill>
                <a:schemeClr val="dk1"/>
              </a:solidFill>
              <a:latin typeface="Calibri"/>
              <a:ea typeface="Calibri"/>
              <a:cs typeface="Calibri"/>
              <a:sym typeface="Calibri"/>
            </a:endParaRPr>
          </a:p>
        </p:txBody>
      </p:sp>
      <p:cxnSp>
        <p:nvCxnSpPr>
          <p:cNvPr id="89" name="Google Shape;89;p6"/>
          <p:cNvCxnSpPr/>
          <p:nvPr/>
        </p:nvCxnSpPr>
        <p:spPr>
          <a:xfrm>
            <a:off x="274320" y="3419856"/>
            <a:ext cx="8412480" cy="0"/>
          </a:xfrm>
          <a:prstGeom prst="straightConnector1">
            <a:avLst/>
          </a:prstGeom>
          <a:noFill/>
          <a:ln cap="flat" cmpd="sng" w="9525">
            <a:solidFill>
              <a:srgbClr val="DDD8CF"/>
            </a:solidFill>
            <a:prstDash val="solid"/>
            <a:round/>
            <a:headEnd len="sm" w="sm" type="none"/>
            <a:tailEnd len="sm" w="sm" type="none"/>
          </a:ln>
        </p:spPr>
      </p:cxnSp>
      <p:sp>
        <p:nvSpPr>
          <p:cNvPr id="90" name="Google Shape;90;p6"/>
          <p:cNvSpPr/>
          <p:nvPr/>
        </p:nvSpPr>
        <p:spPr>
          <a:xfrm>
            <a:off x="274320" y="3502152"/>
            <a:ext cx="50292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94E"/>
              </a:buClr>
              <a:buSzPts val="2200"/>
              <a:buFont typeface="Calibri"/>
              <a:buNone/>
            </a:pPr>
            <a:r>
              <a:rPr b="1" i="0" lang="en-US" sz="2200" u="none" cap="none" strike="noStrike">
                <a:solidFill>
                  <a:srgbClr val="A8D94E"/>
                </a:solidFill>
                <a:latin typeface="Calibri"/>
                <a:ea typeface="Calibri"/>
                <a:cs typeface="Calibri"/>
                <a:sym typeface="Calibri"/>
              </a:rPr>
              <a:t>04</a:t>
            </a:r>
            <a:endParaRPr b="0" i="0" sz="2200" u="none" cap="none" strike="noStrike">
              <a:solidFill>
                <a:schemeClr val="dk1"/>
              </a:solidFill>
              <a:latin typeface="Calibri"/>
              <a:ea typeface="Calibri"/>
              <a:cs typeface="Calibri"/>
              <a:sym typeface="Calibri"/>
            </a:endParaRPr>
          </a:p>
        </p:txBody>
      </p:sp>
      <p:sp>
        <p:nvSpPr>
          <p:cNvPr id="91" name="Google Shape;91;p6"/>
          <p:cNvSpPr/>
          <p:nvPr/>
        </p:nvSpPr>
        <p:spPr>
          <a:xfrm>
            <a:off x="868680" y="3547872"/>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400"/>
              <a:buFont typeface="Calibri"/>
              <a:buNone/>
            </a:pPr>
            <a:r>
              <a:rPr b="1" i="0" lang="en-US" sz="1400" u="none" cap="none" strike="noStrike">
                <a:solidFill>
                  <a:srgbClr val="1A1A1A"/>
                </a:solidFill>
                <a:latin typeface="Calibri"/>
                <a:ea typeface="Calibri"/>
                <a:cs typeface="Calibri"/>
                <a:sym typeface="Calibri"/>
              </a:rPr>
              <a:t>IA Local &amp; Automatización</a:t>
            </a:r>
            <a:endParaRPr b="0" i="0" sz="1400" u="none" cap="none" strike="noStrike">
              <a:solidFill>
                <a:schemeClr val="dk1"/>
              </a:solidFill>
              <a:latin typeface="Calibri"/>
              <a:ea typeface="Calibri"/>
              <a:cs typeface="Calibri"/>
              <a:sym typeface="Calibri"/>
            </a:endParaRPr>
          </a:p>
        </p:txBody>
      </p:sp>
      <p:sp>
        <p:nvSpPr>
          <p:cNvPr id="92" name="Google Shape;92;p6"/>
          <p:cNvSpPr/>
          <p:nvPr/>
        </p:nvSpPr>
        <p:spPr>
          <a:xfrm>
            <a:off x="868680" y="3776472"/>
            <a:ext cx="78638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LLMs locales para optimización de infra sin dependencia de nube</a:t>
            </a:r>
            <a:endParaRPr b="0" i="0" sz="1100" u="none" cap="none" strike="noStrike">
              <a:solidFill>
                <a:schemeClr val="dk1"/>
              </a:solidFill>
              <a:latin typeface="Calibri"/>
              <a:ea typeface="Calibri"/>
              <a:cs typeface="Calibri"/>
              <a:sym typeface="Calibri"/>
            </a:endParaRPr>
          </a:p>
        </p:txBody>
      </p:sp>
      <p:cxnSp>
        <p:nvCxnSpPr>
          <p:cNvPr id="93" name="Google Shape;93;p6"/>
          <p:cNvCxnSpPr/>
          <p:nvPr/>
        </p:nvCxnSpPr>
        <p:spPr>
          <a:xfrm>
            <a:off x="274320" y="4123944"/>
            <a:ext cx="8412480" cy="0"/>
          </a:xfrm>
          <a:prstGeom prst="straightConnector1">
            <a:avLst/>
          </a:prstGeom>
          <a:noFill/>
          <a:ln cap="flat" cmpd="sng" w="9525">
            <a:solidFill>
              <a:srgbClr val="DDD8CF"/>
            </a:solidFill>
            <a:prstDash val="solid"/>
            <a:round/>
            <a:headEnd len="sm" w="sm" type="none"/>
            <a:tailEnd len="sm" w="sm" type="none"/>
          </a:ln>
        </p:spPr>
      </p:cxnSp>
      <p:sp>
        <p:nvSpPr>
          <p:cNvPr id="94" name="Google Shape;94;p6"/>
          <p:cNvSpPr/>
          <p:nvPr/>
        </p:nvSpPr>
        <p:spPr>
          <a:xfrm>
            <a:off x="274320" y="4206240"/>
            <a:ext cx="50292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94E"/>
              </a:buClr>
              <a:buSzPts val="2200"/>
              <a:buFont typeface="Calibri"/>
              <a:buNone/>
            </a:pPr>
            <a:r>
              <a:rPr b="1" i="0" lang="en-US" sz="2200" u="none" cap="none" strike="noStrike">
                <a:solidFill>
                  <a:srgbClr val="A8D94E"/>
                </a:solidFill>
                <a:latin typeface="Calibri"/>
                <a:ea typeface="Calibri"/>
                <a:cs typeface="Calibri"/>
                <a:sym typeface="Calibri"/>
              </a:rPr>
              <a:t>05</a:t>
            </a:r>
            <a:endParaRPr b="0" i="0" sz="2200" u="none" cap="none" strike="noStrike">
              <a:solidFill>
                <a:schemeClr val="dk1"/>
              </a:solidFill>
              <a:latin typeface="Calibri"/>
              <a:ea typeface="Calibri"/>
              <a:cs typeface="Calibri"/>
              <a:sym typeface="Calibri"/>
            </a:endParaRPr>
          </a:p>
        </p:txBody>
      </p:sp>
      <p:sp>
        <p:nvSpPr>
          <p:cNvPr id="95" name="Google Shape;95;p6"/>
          <p:cNvSpPr/>
          <p:nvPr/>
        </p:nvSpPr>
        <p:spPr>
          <a:xfrm>
            <a:off x="868680" y="4251960"/>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400"/>
              <a:buFont typeface="Calibri"/>
              <a:buNone/>
            </a:pPr>
            <a:r>
              <a:rPr b="1" i="0" lang="en-US" sz="1400" u="none" cap="none" strike="noStrike">
                <a:solidFill>
                  <a:srgbClr val="1A1A1A"/>
                </a:solidFill>
                <a:latin typeface="Calibri"/>
                <a:ea typeface="Calibri"/>
                <a:cs typeface="Calibri"/>
                <a:sym typeface="Calibri"/>
              </a:rPr>
              <a:t>SRE Evolucionado</a:t>
            </a:r>
            <a:endParaRPr b="0" i="0" sz="1400" u="none" cap="none" strike="noStrike">
              <a:solidFill>
                <a:schemeClr val="dk1"/>
              </a:solidFill>
              <a:latin typeface="Calibri"/>
              <a:ea typeface="Calibri"/>
              <a:cs typeface="Calibri"/>
              <a:sym typeface="Calibri"/>
            </a:endParaRPr>
          </a:p>
        </p:txBody>
      </p:sp>
      <p:sp>
        <p:nvSpPr>
          <p:cNvPr id="96" name="Google Shape;96;p6"/>
          <p:cNvSpPr/>
          <p:nvPr/>
        </p:nvSpPr>
        <p:spPr>
          <a:xfrm>
            <a:off x="868680" y="4480560"/>
            <a:ext cx="78638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De los SLOs de disponibilidad a los SLOs de sostenibilidad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01" name="Shape 101"/>
        <p:cNvGrpSpPr/>
        <p:nvPr/>
      </p:nvGrpSpPr>
      <p:grpSpPr>
        <a:xfrm>
          <a:off x="0" y="0"/>
          <a:ext cx="0" cy="0"/>
          <a:chOff x="0" y="0"/>
          <a:chExt cx="0" cy="0"/>
        </a:xfrm>
      </p:grpSpPr>
      <p:cxnSp>
        <p:nvCxnSpPr>
          <p:cNvPr id="102" name="Google Shape;102;p7"/>
          <p:cNvCxnSpPr/>
          <p:nvPr/>
        </p:nvCxnSpPr>
        <p:spPr>
          <a:xfrm>
            <a:off x="457200" y="475488"/>
            <a:ext cx="8229600" cy="0"/>
          </a:xfrm>
          <a:prstGeom prst="straightConnector1">
            <a:avLst/>
          </a:prstGeom>
          <a:noFill/>
          <a:ln cap="flat" cmpd="sng" w="12700">
            <a:solidFill>
              <a:srgbClr val="BEF264"/>
            </a:solidFill>
            <a:prstDash val="solid"/>
            <a:round/>
            <a:headEnd len="sm" w="sm" type="none"/>
            <a:tailEnd len="sm" w="sm" type="none"/>
          </a:ln>
        </p:spPr>
      </p:cxnSp>
      <p:sp>
        <p:nvSpPr>
          <p:cNvPr id="103" name="Google Shape;103;p7"/>
          <p:cNvSpPr/>
          <p:nvPr/>
        </p:nvSpPr>
        <p:spPr>
          <a:xfrm>
            <a:off x="457200" y="18288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900"/>
              <a:buFont typeface="Calibri"/>
              <a:buNone/>
            </a:pPr>
            <a:r>
              <a:rPr b="1" i="0" lang="en-US" sz="900" u="none" cap="none" strike="noStrike">
                <a:solidFill>
                  <a:srgbClr val="BEF264"/>
                </a:solidFill>
                <a:latin typeface="Calibri"/>
                <a:ea typeface="Calibri"/>
                <a:cs typeface="Calibri"/>
                <a:sym typeface="Calibri"/>
              </a:rPr>
              <a:t>BLOQUE 01</a:t>
            </a:r>
            <a:endParaRPr b="0" i="0" sz="900" u="none" cap="none" strike="noStrike">
              <a:solidFill>
                <a:schemeClr val="dk1"/>
              </a:solidFill>
              <a:latin typeface="Calibri"/>
              <a:ea typeface="Calibri"/>
              <a:cs typeface="Calibri"/>
              <a:sym typeface="Calibri"/>
            </a:endParaRPr>
          </a:p>
        </p:txBody>
      </p:sp>
      <p:sp>
        <p:nvSpPr>
          <p:cNvPr id="104" name="Google Shape;104;p7"/>
          <p:cNvSpPr/>
          <p:nvPr/>
        </p:nvSpPr>
        <p:spPr>
          <a:xfrm>
            <a:off x="457200" y="594360"/>
            <a:ext cx="77724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El Imperativo 2026</a:t>
            </a:r>
            <a:endParaRPr b="0" i="0" sz="3600" u="none" cap="none" strike="noStrike">
              <a:solidFill>
                <a:schemeClr val="dk1"/>
              </a:solidFill>
              <a:latin typeface="Calibri"/>
              <a:ea typeface="Calibri"/>
              <a:cs typeface="Calibri"/>
              <a:sym typeface="Calibri"/>
            </a:endParaRPr>
          </a:p>
        </p:txBody>
      </p:sp>
      <p:sp>
        <p:nvSpPr>
          <p:cNvPr id="105" name="Google Shape;105;p7"/>
          <p:cNvSpPr/>
          <p:nvPr/>
        </p:nvSpPr>
        <p:spPr>
          <a:xfrm>
            <a:off x="365760" y="1481328"/>
            <a:ext cx="2651760" cy="233172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365760" y="1481328"/>
            <a:ext cx="265176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365760" y="1572768"/>
            <a:ext cx="2651760" cy="8046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EF264"/>
              </a:buClr>
              <a:buSzPts val="5200"/>
              <a:buFont typeface="Calibri"/>
              <a:buNone/>
            </a:pPr>
            <a:r>
              <a:rPr b="1" i="0" lang="en-US" sz="5200" u="none" cap="none" strike="noStrike">
                <a:solidFill>
                  <a:srgbClr val="BEF264"/>
                </a:solidFill>
                <a:latin typeface="Calibri"/>
                <a:ea typeface="Calibri"/>
                <a:cs typeface="Calibri"/>
                <a:sym typeface="Calibri"/>
              </a:rPr>
              <a:t>1–3%</a:t>
            </a:r>
            <a:endParaRPr b="0" i="0" sz="5200" u="none" cap="none" strike="noStrike">
              <a:solidFill>
                <a:schemeClr val="dk1"/>
              </a:solidFill>
              <a:latin typeface="Calibri"/>
              <a:ea typeface="Calibri"/>
              <a:cs typeface="Calibri"/>
              <a:sym typeface="Calibri"/>
            </a:endParaRPr>
          </a:p>
        </p:txBody>
      </p:sp>
      <p:sp>
        <p:nvSpPr>
          <p:cNvPr id="108" name="Google Shape;108;p7"/>
          <p:cNvSpPr/>
          <p:nvPr/>
        </p:nvSpPr>
        <p:spPr>
          <a:xfrm>
            <a:off x="365760" y="2359152"/>
            <a:ext cx="2651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electricidad global</a:t>
            </a:r>
            <a:endParaRPr b="0" i="0" sz="1200" u="none" cap="none" strike="noStrike">
              <a:solidFill>
                <a:schemeClr val="dk1"/>
              </a:solidFill>
              <a:latin typeface="Calibri"/>
              <a:ea typeface="Calibri"/>
              <a:cs typeface="Calibri"/>
              <a:sym typeface="Calibri"/>
            </a:endParaRPr>
          </a:p>
        </p:txBody>
      </p:sp>
      <p:cxnSp>
        <p:nvCxnSpPr>
          <p:cNvPr id="109" name="Google Shape;109;p7"/>
          <p:cNvCxnSpPr/>
          <p:nvPr/>
        </p:nvCxnSpPr>
        <p:spPr>
          <a:xfrm>
            <a:off x="548640" y="2670048"/>
            <a:ext cx="2286000" cy="0"/>
          </a:xfrm>
          <a:prstGeom prst="straightConnector1">
            <a:avLst/>
          </a:prstGeom>
          <a:noFill/>
          <a:ln cap="flat" cmpd="sng" w="9525">
            <a:solidFill>
              <a:srgbClr val="2A2A2A"/>
            </a:solidFill>
            <a:prstDash val="solid"/>
            <a:round/>
            <a:headEnd len="sm" w="sm" type="none"/>
            <a:tailEnd len="sm" w="sm" type="none"/>
          </a:ln>
        </p:spPr>
      </p:cxnSp>
      <p:sp>
        <p:nvSpPr>
          <p:cNvPr id="110" name="Google Shape;110;p7"/>
          <p:cNvSpPr/>
          <p:nvPr/>
        </p:nvSpPr>
        <p:spPr>
          <a:xfrm>
            <a:off x="365760" y="2761488"/>
            <a:ext cx="26517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consumida por centros de datos en 2026</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(IEA, 2025)</a:t>
            </a:r>
            <a:endParaRPr b="0" i="0" sz="1000" u="none" cap="none" strike="noStrike">
              <a:solidFill>
                <a:schemeClr val="dk1"/>
              </a:solidFill>
              <a:latin typeface="Calibri"/>
              <a:ea typeface="Calibri"/>
              <a:cs typeface="Calibri"/>
              <a:sym typeface="Calibri"/>
            </a:endParaRPr>
          </a:p>
        </p:txBody>
      </p:sp>
      <p:sp>
        <p:nvSpPr>
          <p:cNvPr id="111" name="Google Shape;111;p7"/>
          <p:cNvSpPr/>
          <p:nvPr/>
        </p:nvSpPr>
        <p:spPr>
          <a:xfrm>
            <a:off x="3200400" y="1481328"/>
            <a:ext cx="2651760" cy="233172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3200400" y="1481328"/>
            <a:ext cx="265176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3200400" y="1572768"/>
            <a:ext cx="2651760" cy="8046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EF264"/>
              </a:buClr>
              <a:buSzPts val="5200"/>
              <a:buFont typeface="Calibri"/>
              <a:buNone/>
            </a:pPr>
            <a:r>
              <a:rPr b="1" i="0" lang="en-US" sz="5200" u="none" cap="none" strike="noStrike">
                <a:solidFill>
                  <a:srgbClr val="BEF264"/>
                </a:solidFill>
                <a:latin typeface="Calibri"/>
                <a:ea typeface="Calibri"/>
                <a:cs typeface="Calibri"/>
                <a:sym typeface="Calibri"/>
              </a:rPr>
              <a:t>×2.5</a:t>
            </a:r>
            <a:endParaRPr b="0" i="0" sz="5200" u="none" cap="none" strike="noStrike">
              <a:solidFill>
                <a:schemeClr val="dk1"/>
              </a:solidFill>
              <a:latin typeface="Calibri"/>
              <a:ea typeface="Calibri"/>
              <a:cs typeface="Calibri"/>
              <a:sym typeface="Calibri"/>
            </a:endParaRPr>
          </a:p>
        </p:txBody>
      </p:sp>
      <p:sp>
        <p:nvSpPr>
          <p:cNvPr id="114" name="Google Shape;114;p7"/>
          <p:cNvSpPr/>
          <p:nvPr/>
        </p:nvSpPr>
        <p:spPr>
          <a:xfrm>
            <a:off x="3200400" y="2359152"/>
            <a:ext cx="2651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en 5 años</a:t>
            </a:r>
            <a:endParaRPr b="0" i="0" sz="1200" u="none" cap="none" strike="noStrike">
              <a:solidFill>
                <a:schemeClr val="dk1"/>
              </a:solidFill>
              <a:latin typeface="Calibri"/>
              <a:ea typeface="Calibri"/>
              <a:cs typeface="Calibri"/>
              <a:sym typeface="Calibri"/>
            </a:endParaRPr>
          </a:p>
        </p:txBody>
      </p:sp>
      <p:cxnSp>
        <p:nvCxnSpPr>
          <p:cNvPr id="115" name="Google Shape;115;p7"/>
          <p:cNvCxnSpPr/>
          <p:nvPr/>
        </p:nvCxnSpPr>
        <p:spPr>
          <a:xfrm>
            <a:off x="3383280" y="2670048"/>
            <a:ext cx="2286000" cy="0"/>
          </a:xfrm>
          <a:prstGeom prst="straightConnector1">
            <a:avLst/>
          </a:prstGeom>
          <a:noFill/>
          <a:ln cap="flat" cmpd="sng" w="9525">
            <a:solidFill>
              <a:srgbClr val="2A2A2A"/>
            </a:solidFill>
            <a:prstDash val="solid"/>
            <a:round/>
            <a:headEnd len="sm" w="sm" type="none"/>
            <a:tailEnd len="sm" w="sm" type="none"/>
          </a:ln>
        </p:spPr>
      </p:cxnSp>
      <p:sp>
        <p:nvSpPr>
          <p:cNvPr id="116" name="Google Shape;116;p7"/>
          <p:cNvSpPr/>
          <p:nvPr/>
        </p:nvSpPr>
        <p:spPr>
          <a:xfrm>
            <a:off x="3200400" y="2761488"/>
            <a:ext cx="26517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crecimiento del tráfico de datos entrenando</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modelos de IA generativa</a:t>
            </a:r>
            <a:endParaRPr b="0" i="0" sz="1000" u="none" cap="none" strike="noStrike">
              <a:solidFill>
                <a:schemeClr val="dk1"/>
              </a:solidFill>
              <a:latin typeface="Calibri"/>
              <a:ea typeface="Calibri"/>
              <a:cs typeface="Calibri"/>
              <a:sym typeface="Calibri"/>
            </a:endParaRPr>
          </a:p>
        </p:txBody>
      </p:sp>
      <p:sp>
        <p:nvSpPr>
          <p:cNvPr id="117" name="Google Shape;117;p7"/>
          <p:cNvSpPr/>
          <p:nvPr/>
        </p:nvSpPr>
        <p:spPr>
          <a:xfrm>
            <a:off x="6035040" y="1481328"/>
            <a:ext cx="2651760" cy="233172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6035040" y="1481328"/>
            <a:ext cx="265176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6035040" y="1572768"/>
            <a:ext cx="2651760" cy="8046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EF264"/>
              </a:buClr>
              <a:buSzPts val="5200"/>
              <a:buFont typeface="Calibri"/>
              <a:buNone/>
            </a:pPr>
            <a:r>
              <a:rPr b="1" i="0" lang="en-US" sz="5200" u="none" cap="none" strike="noStrike">
                <a:solidFill>
                  <a:srgbClr val="BEF264"/>
                </a:solidFill>
                <a:latin typeface="Calibri"/>
                <a:ea typeface="Calibri"/>
                <a:cs typeface="Calibri"/>
                <a:sym typeface="Calibri"/>
              </a:rPr>
              <a:t>~2%</a:t>
            </a:r>
            <a:endParaRPr b="0" i="0" sz="5200" u="none" cap="none" strike="noStrike">
              <a:solidFill>
                <a:schemeClr val="dk1"/>
              </a:solidFill>
              <a:latin typeface="Calibri"/>
              <a:ea typeface="Calibri"/>
              <a:cs typeface="Calibri"/>
              <a:sym typeface="Calibri"/>
            </a:endParaRPr>
          </a:p>
        </p:txBody>
      </p:sp>
      <p:sp>
        <p:nvSpPr>
          <p:cNvPr id="120" name="Google Shape;120;p7"/>
          <p:cNvSpPr/>
          <p:nvPr/>
        </p:nvSpPr>
        <p:spPr>
          <a:xfrm>
            <a:off x="6035040" y="2359152"/>
            <a:ext cx="2651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de emisiones globales</a:t>
            </a:r>
            <a:endParaRPr b="0" i="0" sz="1200" u="none" cap="none" strike="noStrike">
              <a:solidFill>
                <a:schemeClr val="dk1"/>
              </a:solidFill>
              <a:latin typeface="Calibri"/>
              <a:ea typeface="Calibri"/>
              <a:cs typeface="Calibri"/>
              <a:sym typeface="Calibri"/>
            </a:endParaRPr>
          </a:p>
        </p:txBody>
      </p:sp>
      <p:cxnSp>
        <p:nvCxnSpPr>
          <p:cNvPr id="121" name="Google Shape;121;p7"/>
          <p:cNvCxnSpPr/>
          <p:nvPr/>
        </p:nvCxnSpPr>
        <p:spPr>
          <a:xfrm>
            <a:off x="6217920" y="2670048"/>
            <a:ext cx="2286000" cy="0"/>
          </a:xfrm>
          <a:prstGeom prst="straightConnector1">
            <a:avLst/>
          </a:prstGeom>
          <a:noFill/>
          <a:ln cap="flat" cmpd="sng" w="9525">
            <a:solidFill>
              <a:srgbClr val="2A2A2A"/>
            </a:solidFill>
            <a:prstDash val="solid"/>
            <a:round/>
            <a:headEnd len="sm" w="sm" type="none"/>
            <a:tailEnd len="sm" w="sm" type="none"/>
          </a:ln>
        </p:spPr>
      </p:cxnSp>
      <p:sp>
        <p:nvSpPr>
          <p:cNvPr id="122" name="Google Shape;122;p7"/>
          <p:cNvSpPr/>
          <p:nvPr/>
        </p:nvSpPr>
        <p:spPr>
          <a:xfrm>
            <a:off x="6035040" y="2761488"/>
            <a:ext cx="265176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sector TIC equipara al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transporte aéreo mundial</a:t>
            </a:r>
            <a:endParaRPr b="0" i="0" sz="1000" u="none" cap="none" strike="noStrike">
              <a:solidFill>
                <a:schemeClr val="dk1"/>
              </a:solidFill>
              <a:latin typeface="Calibri"/>
              <a:ea typeface="Calibri"/>
              <a:cs typeface="Calibri"/>
              <a:sym typeface="Calibri"/>
            </a:endParaRPr>
          </a:p>
        </p:txBody>
      </p:sp>
      <p:sp>
        <p:nvSpPr>
          <p:cNvPr id="123" name="Google Shape;123;p7"/>
          <p:cNvSpPr/>
          <p:nvPr/>
        </p:nvSpPr>
        <p:spPr>
          <a:xfrm>
            <a:off x="365760" y="4005072"/>
            <a:ext cx="8412480" cy="621792"/>
          </a:xfrm>
          <a:prstGeom prst="rect">
            <a:avLst/>
          </a:prstGeom>
          <a:solidFill>
            <a:srgbClr val="1E1E1E"/>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365760" y="4005072"/>
            <a:ext cx="8412480"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F264"/>
              </a:buClr>
              <a:buSzPts val="1400"/>
              <a:buFont typeface="Calibri"/>
              <a:buNone/>
            </a:pPr>
            <a:r>
              <a:rPr b="1" i="0" lang="en-US" sz="1400" u="none" cap="none" strike="noStrike">
                <a:solidFill>
                  <a:srgbClr val="BEF264"/>
                </a:solidFill>
                <a:latin typeface="Calibri"/>
                <a:ea typeface="Calibri"/>
                <a:cs typeface="Calibri"/>
                <a:sym typeface="Calibri"/>
              </a:rPr>
              <a:t>El crecimiento infinito de recursos llegó a su fin. La eficiencia ya no es opcional: es supervivencia.</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FE6"/>
        </a:solidFill>
      </p:bgPr>
    </p:bg>
    <p:spTree>
      <p:nvGrpSpPr>
        <p:cNvPr id="129" name="Shape 129"/>
        <p:cNvGrpSpPr/>
        <p:nvPr/>
      </p:nvGrpSpPr>
      <p:grpSpPr>
        <a:xfrm>
          <a:off x="0" y="0"/>
          <a:ext cx="0" cy="0"/>
          <a:chOff x="0" y="0"/>
          <a:chExt cx="0" cy="0"/>
        </a:xfrm>
      </p:grpSpPr>
      <p:sp>
        <p:nvSpPr>
          <p:cNvPr id="130" name="Google Shape;130;p8"/>
          <p:cNvSpPr/>
          <p:nvPr/>
        </p:nvSpPr>
        <p:spPr>
          <a:xfrm>
            <a:off x="0" y="0"/>
            <a:ext cx="54864" cy="514350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274320" y="22860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900"/>
              <a:buFont typeface="Calibri"/>
              <a:buNone/>
            </a:pPr>
            <a:r>
              <a:rPr b="1" i="0" lang="en-US" sz="900" u="none" cap="none" strike="noStrike">
                <a:solidFill>
                  <a:srgbClr val="5A5A5A"/>
                </a:solidFill>
                <a:latin typeface="Calibri"/>
                <a:ea typeface="Calibri"/>
                <a:cs typeface="Calibri"/>
                <a:sym typeface="Calibri"/>
              </a:rPr>
              <a:t>BLOQUE 02</a:t>
            </a:r>
            <a:endParaRPr b="0" i="0" sz="900" u="none" cap="none" strike="noStrike">
              <a:solidFill>
                <a:schemeClr val="dk1"/>
              </a:solidFill>
              <a:latin typeface="Calibri"/>
              <a:ea typeface="Calibri"/>
              <a:cs typeface="Calibri"/>
              <a:sym typeface="Calibri"/>
            </a:endParaRPr>
          </a:p>
        </p:txBody>
      </p:sp>
      <p:sp>
        <p:nvSpPr>
          <p:cNvPr id="132" name="Google Shape;132;p8"/>
          <p:cNvSpPr/>
          <p:nvPr/>
        </p:nvSpPr>
        <p:spPr>
          <a:xfrm>
            <a:off x="274320" y="502920"/>
            <a:ext cx="84124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2800"/>
              <a:buFont typeface="Calibri"/>
              <a:buNone/>
            </a:pPr>
            <a:r>
              <a:rPr b="1" i="0" lang="en-US" sz="2800" u="none" cap="none" strike="noStrike">
                <a:solidFill>
                  <a:srgbClr val="1A1A1A"/>
                </a:solidFill>
                <a:latin typeface="Calibri"/>
                <a:ea typeface="Calibri"/>
                <a:cs typeface="Calibri"/>
                <a:sym typeface="Calibri"/>
              </a:rPr>
              <a:t>GreenOps &amp; Ciclo de Vida Sostenible</a:t>
            </a:r>
            <a:endParaRPr b="0" i="0" sz="2800" u="none" cap="none" strike="noStrike">
              <a:solidFill>
                <a:schemeClr val="dk1"/>
              </a:solidFill>
              <a:latin typeface="Calibri"/>
              <a:ea typeface="Calibri"/>
              <a:cs typeface="Calibri"/>
              <a:sym typeface="Calibri"/>
            </a:endParaRPr>
          </a:p>
        </p:txBody>
      </p:sp>
      <p:cxnSp>
        <p:nvCxnSpPr>
          <p:cNvPr id="133" name="Google Shape;133;p8"/>
          <p:cNvCxnSpPr/>
          <p:nvPr/>
        </p:nvCxnSpPr>
        <p:spPr>
          <a:xfrm>
            <a:off x="274320" y="1234440"/>
            <a:ext cx="8412480" cy="0"/>
          </a:xfrm>
          <a:prstGeom prst="straightConnector1">
            <a:avLst/>
          </a:prstGeom>
          <a:noFill/>
          <a:ln cap="flat" cmpd="sng" w="9525">
            <a:solidFill>
              <a:srgbClr val="DDD8CF"/>
            </a:solidFill>
            <a:prstDash val="solid"/>
            <a:round/>
            <a:headEnd len="sm" w="sm" type="none"/>
            <a:tailEnd len="sm" w="sm" type="none"/>
          </a:ln>
        </p:spPr>
      </p:cxnSp>
      <p:sp>
        <p:nvSpPr>
          <p:cNvPr id="134" name="Google Shape;134;p8"/>
          <p:cNvSpPr/>
          <p:nvPr/>
        </p:nvSpPr>
        <p:spPr>
          <a:xfrm>
            <a:off x="274320" y="1417320"/>
            <a:ext cx="1508760" cy="65836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274320" y="1444752"/>
            <a:ext cx="15087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1A"/>
              </a:buClr>
              <a:buSzPts val="1200"/>
              <a:buFont typeface="Calibri"/>
              <a:buNone/>
            </a:pPr>
            <a:r>
              <a:rPr b="1" i="0" lang="en-US" sz="1200" u="none" cap="none" strike="noStrike">
                <a:solidFill>
                  <a:srgbClr val="1A1A1A"/>
                </a:solidFill>
                <a:latin typeface="Calibri"/>
                <a:ea typeface="Calibri"/>
                <a:cs typeface="Calibri"/>
                <a:sym typeface="Calibri"/>
              </a:rPr>
              <a:t>CODE</a:t>
            </a:r>
            <a:endParaRPr b="0" i="0" sz="1200" u="none" cap="none" strike="noStrike">
              <a:solidFill>
                <a:schemeClr val="dk1"/>
              </a:solidFill>
              <a:latin typeface="Calibri"/>
              <a:ea typeface="Calibri"/>
              <a:cs typeface="Calibri"/>
              <a:sym typeface="Calibri"/>
            </a:endParaRPr>
          </a:p>
        </p:txBody>
      </p:sp>
      <p:sp>
        <p:nvSpPr>
          <p:cNvPr id="136" name="Google Shape;136;p8"/>
          <p:cNvSpPr/>
          <p:nvPr/>
        </p:nvSpPr>
        <p:spPr>
          <a:xfrm>
            <a:off x="274320" y="1737360"/>
            <a:ext cx="1508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Lines</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scanned</a:t>
            </a:r>
            <a:endParaRPr b="0" i="0" sz="900" u="none" cap="none" strike="noStrike">
              <a:solidFill>
                <a:schemeClr val="dk1"/>
              </a:solidFill>
              <a:latin typeface="Calibri"/>
              <a:ea typeface="Calibri"/>
              <a:cs typeface="Calibri"/>
              <a:sym typeface="Calibri"/>
            </a:endParaRPr>
          </a:p>
        </p:txBody>
      </p:sp>
      <p:sp>
        <p:nvSpPr>
          <p:cNvPr id="137" name="Google Shape;137;p8"/>
          <p:cNvSpPr/>
          <p:nvPr/>
        </p:nvSpPr>
        <p:spPr>
          <a:xfrm>
            <a:off x="1783080" y="1536192"/>
            <a:ext cx="22860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94E"/>
              </a:buClr>
              <a:buSzPts val="1400"/>
              <a:buFont typeface="Calibri"/>
              <a:buNone/>
            </a:pPr>
            <a:r>
              <a:rPr b="1" i="0" lang="en-US" sz="1400" u="none" cap="none" strike="noStrike">
                <a:solidFill>
                  <a:srgbClr val="A8D94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8" name="Google Shape;138;p8"/>
          <p:cNvSpPr/>
          <p:nvPr/>
        </p:nvSpPr>
        <p:spPr>
          <a:xfrm>
            <a:off x="1993392" y="1417320"/>
            <a:ext cx="1508760" cy="65836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1993392" y="1444752"/>
            <a:ext cx="15087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1A"/>
              </a:buClr>
              <a:buSzPts val="1200"/>
              <a:buFont typeface="Calibri"/>
              <a:buNone/>
            </a:pPr>
            <a:r>
              <a:rPr b="1" i="0" lang="en-US" sz="1200" u="none" cap="none" strike="noStrike">
                <a:solidFill>
                  <a:srgbClr val="1A1A1A"/>
                </a:solidFill>
                <a:latin typeface="Calibri"/>
                <a:ea typeface="Calibri"/>
                <a:cs typeface="Calibri"/>
                <a:sym typeface="Calibri"/>
              </a:rPr>
              <a:t>BUILD</a:t>
            </a:r>
            <a:endParaRPr b="0" i="0" sz="1200" u="none" cap="none" strike="noStrike">
              <a:solidFill>
                <a:schemeClr val="dk1"/>
              </a:solidFill>
              <a:latin typeface="Calibri"/>
              <a:ea typeface="Calibri"/>
              <a:cs typeface="Calibri"/>
              <a:sym typeface="Calibri"/>
            </a:endParaRPr>
          </a:p>
        </p:txBody>
      </p:sp>
      <p:sp>
        <p:nvSpPr>
          <p:cNvPr id="140" name="Google Shape;140;p8"/>
          <p:cNvSpPr/>
          <p:nvPr/>
        </p:nvSpPr>
        <p:spPr>
          <a:xfrm>
            <a:off x="1993392" y="1737360"/>
            <a:ext cx="1508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Energy</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per build</a:t>
            </a:r>
            <a:endParaRPr b="0" i="0" sz="900" u="none" cap="none" strike="noStrike">
              <a:solidFill>
                <a:schemeClr val="dk1"/>
              </a:solidFill>
              <a:latin typeface="Calibri"/>
              <a:ea typeface="Calibri"/>
              <a:cs typeface="Calibri"/>
              <a:sym typeface="Calibri"/>
            </a:endParaRPr>
          </a:p>
        </p:txBody>
      </p:sp>
      <p:sp>
        <p:nvSpPr>
          <p:cNvPr id="141" name="Google Shape;141;p8"/>
          <p:cNvSpPr/>
          <p:nvPr/>
        </p:nvSpPr>
        <p:spPr>
          <a:xfrm>
            <a:off x="3502152" y="1536192"/>
            <a:ext cx="22860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94E"/>
              </a:buClr>
              <a:buSzPts val="1400"/>
              <a:buFont typeface="Calibri"/>
              <a:buNone/>
            </a:pPr>
            <a:r>
              <a:rPr b="1" i="0" lang="en-US" sz="1400" u="none" cap="none" strike="noStrike">
                <a:solidFill>
                  <a:srgbClr val="A8D94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2" name="Google Shape;142;p8"/>
          <p:cNvSpPr/>
          <p:nvPr/>
        </p:nvSpPr>
        <p:spPr>
          <a:xfrm>
            <a:off x="3712464" y="1417320"/>
            <a:ext cx="1508760" cy="65836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3712464" y="1444752"/>
            <a:ext cx="15087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1A"/>
              </a:buClr>
              <a:buSzPts val="1200"/>
              <a:buFont typeface="Calibri"/>
              <a:buNone/>
            </a:pPr>
            <a:r>
              <a:rPr b="1" i="0" lang="en-US" sz="1200" u="none" cap="none" strike="noStrike">
                <a:solidFill>
                  <a:srgbClr val="1A1A1A"/>
                </a:solidFill>
                <a:latin typeface="Calibri"/>
                <a:ea typeface="Calibri"/>
                <a:cs typeface="Calibri"/>
                <a:sym typeface="Calibri"/>
              </a:rPr>
              <a:t>TEST</a:t>
            </a:r>
            <a:endParaRPr b="0" i="0" sz="1200" u="none" cap="none" strike="noStrike">
              <a:solidFill>
                <a:schemeClr val="dk1"/>
              </a:solidFill>
              <a:latin typeface="Calibri"/>
              <a:ea typeface="Calibri"/>
              <a:cs typeface="Calibri"/>
              <a:sym typeface="Calibri"/>
            </a:endParaRPr>
          </a:p>
        </p:txBody>
      </p:sp>
      <p:sp>
        <p:nvSpPr>
          <p:cNvPr id="144" name="Google Shape;144;p8"/>
          <p:cNvSpPr/>
          <p:nvPr/>
        </p:nvSpPr>
        <p:spPr>
          <a:xfrm>
            <a:off x="3712464" y="1737360"/>
            <a:ext cx="1508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Carbon</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per test</a:t>
            </a:r>
            <a:endParaRPr b="0" i="0" sz="900" u="none" cap="none" strike="noStrike">
              <a:solidFill>
                <a:schemeClr val="dk1"/>
              </a:solidFill>
              <a:latin typeface="Calibri"/>
              <a:ea typeface="Calibri"/>
              <a:cs typeface="Calibri"/>
              <a:sym typeface="Calibri"/>
            </a:endParaRPr>
          </a:p>
        </p:txBody>
      </p:sp>
      <p:sp>
        <p:nvSpPr>
          <p:cNvPr id="145" name="Google Shape;145;p8"/>
          <p:cNvSpPr/>
          <p:nvPr/>
        </p:nvSpPr>
        <p:spPr>
          <a:xfrm>
            <a:off x="5221224" y="1536192"/>
            <a:ext cx="22860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94E"/>
              </a:buClr>
              <a:buSzPts val="1400"/>
              <a:buFont typeface="Calibri"/>
              <a:buNone/>
            </a:pPr>
            <a:r>
              <a:rPr b="1" i="0" lang="en-US" sz="1400" u="none" cap="none" strike="noStrike">
                <a:solidFill>
                  <a:srgbClr val="A8D94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6" name="Google Shape;146;p8"/>
          <p:cNvSpPr/>
          <p:nvPr/>
        </p:nvSpPr>
        <p:spPr>
          <a:xfrm>
            <a:off x="5431536" y="1417320"/>
            <a:ext cx="1508760" cy="65836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5431536" y="1444752"/>
            <a:ext cx="15087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1A"/>
              </a:buClr>
              <a:buSzPts val="1200"/>
              <a:buFont typeface="Calibri"/>
              <a:buNone/>
            </a:pPr>
            <a:r>
              <a:rPr b="1" i="0" lang="en-US" sz="1200" u="none" cap="none" strike="noStrike">
                <a:solidFill>
                  <a:srgbClr val="1A1A1A"/>
                </a:solidFill>
                <a:latin typeface="Calibri"/>
                <a:ea typeface="Calibri"/>
                <a:cs typeface="Calibri"/>
                <a:sym typeface="Calibri"/>
              </a:rPr>
              <a:t>DEPLOY</a:t>
            </a:r>
            <a:endParaRPr b="0" i="0" sz="1200" u="none" cap="none" strike="noStrike">
              <a:solidFill>
                <a:schemeClr val="dk1"/>
              </a:solidFill>
              <a:latin typeface="Calibri"/>
              <a:ea typeface="Calibri"/>
              <a:cs typeface="Calibri"/>
              <a:sym typeface="Calibri"/>
            </a:endParaRPr>
          </a:p>
        </p:txBody>
      </p:sp>
      <p:sp>
        <p:nvSpPr>
          <p:cNvPr id="148" name="Google Shape;148;p8"/>
          <p:cNvSpPr/>
          <p:nvPr/>
        </p:nvSpPr>
        <p:spPr>
          <a:xfrm>
            <a:off x="5431536" y="1737360"/>
            <a:ext cx="1508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SCI</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score</a:t>
            </a:r>
            <a:endParaRPr b="0" i="0" sz="900" u="none" cap="none" strike="noStrike">
              <a:solidFill>
                <a:schemeClr val="dk1"/>
              </a:solidFill>
              <a:latin typeface="Calibri"/>
              <a:ea typeface="Calibri"/>
              <a:cs typeface="Calibri"/>
              <a:sym typeface="Calibri"/>
            </a:endParaRPr>
          </a:p>
        </p:txBody>
      </p:sp>
      <p:sp>
        <p:nvSpPr>
          <p:cNvPr id="149" name="Google Shape;149;p8"/>
          <p:cNvSpPr/>
          <p:nvPr/>
        </p:nvSpPr>
        <p:spPr>
          <a:xfrm>
            <a:off x="6940296" y="1536192"/>
            <a:ext cx="22860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D94E"/>
              </a:buClr>
              <a:buSzPts val="1400"/>
              <a:buFont typeface="Calibri"/>
              <a:buNone/>
            </a:pPr>
            <a:r>
              <a:rPr b="1" i="0" lang="en-US" sz="1400" u="none" cap="none" strike="noStrike">
                <a:solidFill>
                  <a:srgbClr val="A8D94E"/>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50" name="Google Shape;150;p8"/>
          <p:cNvSpPr/>
          <p:nvPr/>
        </p:nvSpPr>
        <p:spPr>
          <a:xfrm>
            <a:off x="7150608" y="1417320"/>
            <a:ext cx="1508760" cy="65836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7150608" y="1444752"/>
            <a:ext cx="15087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1A"/>
              </a:buClr>
              <a:buSzPts val="1200"/>
              <a:buFont typeface="Calibri"/>
              <a:buNone/>
            </a:pPr>
            <a:r>
              <a:rPr b="1" i="0" lang="en-US" sz="1200" u="none" cap="none" strike="noStrike">
                <a:solidFill>
                  <a:srgbClr val="1A1A1A"/>
                </a:solidFill>
                <a:latin typeface="Calibri"/>
                <a:ea typeface="Calibri"/>
                <a:cs typeface="Calibri"/>
                <a:sym typeface="Calibri"/>
              </a:rPr>
              <a:t>RUN</a:t>
            </a:r>
            <a:endParaRPr b="0" i="0" sz="1200" u="none" cap="none" strike="noStrike">
              <a:solidFill>
                <a:schemeClr val="dk1"/>
              </a:solidFill>
              <a:latin typeface="Calibri"/>
              <a:ea typeface="Calibri"/>
              <a:cs typeface="Calibri"/>
              <a:sym typeface="Calibri"/>
            </a:endParaRPr>
          </a:p>
        </p:txBody>
      </p:sp>
      <p:sp>
        <p:nvSpPr>
          <p:cNvPr id="152" name="Google Shape;152;p8"/>
          <p:cNvSpPr/>
          <p:nvPr/>
        </p:nvSpPr>
        <p:spPr>
          <a:xfrm>
            <a:off x="7150608" y="1737360"/>
            <a:ext cx="150876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Carbon</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per req</a:t>
            </a:r>
            <a:endParaRPr b="0" i="0" sz="900" u="none" cap="none" strike="noStrike">
              <a:solidFill>
                <a:schemeClr val="dk1"/>
              </a:solidFill>
              <a:latin typeface="Calibri"/>
              <a:ea typeface="Calibri"/>
              <a:cs typeface="Calibri"/>
              <a:sym typeface="Calibri"/>
            </a:endParaRPr>
          </a:p>
        </p:txBody>
      </p:sp>
      <p:sp>
        <p:nvSpPr>
          <p:cNvPr id="153" name="Google Shape;153;p8"/>
          <p:cNvSpPr/>
          <p:nvPr/>
        </p:nvSpPr>
        <p:spPr>
          <a:xfrm>
            <a:off x="274320" y="2212848"/>
            <a:ext cx="8412480" cy="38404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274320" y="2212848"/>
            <a:ext cx="8412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200"/>
              <a:buFont typeface="Consolas"/>
              <a:buNone/>
            </a:pPr>
            <a:r>
              <a:rPr b="1" i="0" lang="en-US" sz="1200" u="none" cap="none" strike="noStrike">
                <a:solidFill>
                  <a:srgbClr val="1A1A1A"/>
                </a:solidFill>
                <a:latin typeface="Consolas"/>
                <a:ea typeface="Consolas"/>
                <a:cs typeface="Consolas"/>
                <a:sym typeface="Consolas"/>
              </a:rPr>
              <a:t>SCI = (E × I) + M  por unidad funcional  ·  Green Software Foundation Standard v1.0</a:t>
            </a:r>
            <a:endParaRPr b="0" i="0" sz="1200" u="none" cap="none" strike="noStrike">
              <a:solidFill>
                <a:schemeClr val="dk1"/>
              </a:solidFill>
              <a:latin typeface="Calibri"/>
              <a:ea typeface="Calibri"/>
              <a:cs typeface="Calibri"/>
              <a:sym typeface="Calibri"/>
            </a:endParaRPr>
          </a:p>
        </p:txBody>
      </p:sp>
      <p:sp>
        <p:nvSpPr>
          <p:cNvPr id="155" name="Google Shape;155;p8"/>
          <p:cNvSpPr/>
          <p:nvPr/>
        </p:nvSpPr>
        <p:spPr>
          <a:xfrm>
            <a:off x="274320" y="2788920"/>
            <a:ext cx="2697480" cy="205740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274320" y="2788920"/>
            <a:ext cx="269748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411480" y="2852928"/>
            <a:ext cx="24231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1" i="0" lang="en-US" sz="1200" u="none" cap="none" strike="noStrike">
                <a:solidFill>
                  <a:srgbClr val="1A1A1A"/>
                </a:solidFill>
                <a:latin typeface="Calibri"/>
                <a:ea typeface="Calibri"/>
                <a:cs typeface="Calibri"/>
                <a:sym typeface="Calibri"/>
              </a:rPr>
              <a:t>Carbon-Aware Scheduling</a:t>
            </a:r>
            <a:endParaRPr b="0" i="0" sz="1200" u="none" cap="none" strike="noStrike">
              <a:solidFill>
                <a:schemeClr val="dk1"/>
              </a:solidFill>
              <a:latin typeface="Calibri"/>
              <a:ea typeface="Calibri"/>
              <a:cs typeface="Calibri"/>
              <a:sym typeface="Calibri"/>
            </a:endParaRPr>
          </a:p>
        </p:txBody>
      </p:sp>
      <p:sp>
        <p:nvSpPr>
          <p:cNvPr id="158" name="Google Shape;158;p8"/>
          <p:cNvSpPr/>
          <p:nvPr/>
        </p:nvSpPr>
        <p:spPr>
          <a:xfrm>
            <a:off x="411480" y="3291840"/>
            <a:ext cx="2423160"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Mover cargas de trabajo a franjas horarias con menor intensidad de carbono en la red eléctrica (SDGs compliant)</a:t>
            </a:r>
            <a:endParaRPr b="0" i="0" sz="1100" u="none" cap="none" strike="noStrike">
              <a:solidFill>
                <a:schemeClr val="dk1"/>
              </a:solidFill>
              <a:latin typeface="Calibri"/>
              <a:ea typeface="Calibri"/>
              <a:cs typeface="Calibri"/>
              <a:sym typeface="Calibri"/>
            </a:endParaRPr>
          </a:p>
        </p:txBody>
      </p:sp>
      <p:sp>
        <p:nvSpPr>
          <p:cNvPr id="159" name="Google Shape;159;p8"/>
          <p:cNvSpPr/>
          <p:nvPr/>
        </p:nvSpPr>
        <p:spPr>
          <a:xfrm>
            <a:off x="3154680" y="2788920"/>
            <a:ext cx="2697480" cy="205740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3154680" y="2788920"/>
            <a:ext cx="269748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3291840" y="2852928"/>
            <a:ext cx="24231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1" i="0" lang="en-US" sz="1200" u="none" cap="none" strike="noStrike">
                <a:solidFill>
                  <a:srgbClr val="1A1A1A"/>
                </a:solidFill>
                <a:latin typeface="Calibri"/>
                <a:ea typeface="Calibri"/>
                <a:cs typeface="Calibri"/>
                <a:sym typeface="Calibri"/>
              </a:rPr>
              <a:t>Software Carbon Intensity</a:t>
            </a:r>
            <a:endParaRPr b="0" i="0" sz="1200" u="none" cap="none" strike="noStrike">
              <a:solidFill>
                <a:schemeClr val="dk1"/>
              </a:solidFill>
              <a:latin typeface="Calibri"/>
              <a:ea typeface="Calibri"/>
              <a:cs typeface="Calibri"/>
              <a:sym typeface="Calibri"/>
            </a:endParaRPr>
          </a:p>
        </p:txBody>
      </p:sp>
      <p:sp>
        <p:nvSpPr>
          <p:cNvPr id="162" name="Google Shape;162;p8"/>
          <p:cNvSpPr/>
          <p:nvPr/>
        </p:nvSpPr>
        <p:spPr>
          <a:xfrm>
            <a:off x="3291840" y="3291840"/>
            <a:ext cx="2423160"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Medir gramos de CO₂ equivalente por unidad funcional (request, usuario, transacción). Estándar: Green Software Foundation</a:t>
            </a:r>
            <a:endParaRPr b="0" i="0" sz="1100" u="none" cap="none" strike="noStrike">
              <a:solidFill>
                <a:schemeClr val="dk1"/>
              </a:solidFill>
              <a:latin typeface="Calibri"/>
              <a:ea typeface="Calibri"/>
              <a:cs typeface="Calibri"/>
              <a:sym typeface="Calibri"/>
            </a:endParaRPr>
          </a:p>
        </p:txBody>
      </p:sp>
      <p:sp>
        <p:nvSpPr>
          <p:cNvPr id="163" name="Google Shape;163;p8"/>
          <p:cNvSpPr/>
          <p:nvPr/>
        </p:nvSpPr>
        <p:spPr>
          <a:xfrm>
            <a:off x="6035040" y="2788920"/>
            <a:ext cx="2697480" cy="205740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6035040" y="2788920"/>
            <a:ext cx="269748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6172200" y="2852928"/>
            <a:ext cx="24231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1" i="0" lang="en-US" sz="1200" u="none" cap="none" strike="noStrike">
                <a:solidFill>
                  <a:srgbClr val="1A1A1A"/>
                </a:solidFill>
                <a:latin typeface="Calibri"/>
                <a:ea typeface="Calibri"/>
                <a:cs typeface="Calibri"/>
                <a:sym typeface="Calibri"/>
              </a:rPr>
              <a:t>Pipeline Carbon Gate</a:t>
            </a:r>
            <a:endParaRPr b="0" i="0" sz="1200" u="none" cap="none" strike="noStrike">
              <a:solidFill>
                <a:schemeClr val="dk1"/>
              </a:solidFill>
              <a:latin typeface="Calibri"/>
              <a:ea typeface="Calibri"/>
              <a:cs typeface="Calibri"/>
              <a:sym typeface="Calibri"/>
            </a:endParaRPr>
          </a:p>
        </p:txBody>
      </p:sp>
      <p:sp>
        <p:nvSpPr>
          <p:cNvPr id="166" name="Google Shape;166;p8"/>
          <p:cNvSpPr/>
          <p:nvPr/>
        </p:nvSpPr>
        <p:spPr>
          <a:xfrm>
            <a:off x="6172200" y="3291840"/>
            <a:ext cx="2423160" cy="1417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El pipeline CI/CD rechaza deployments que superen el SCI threshold definido. Shift-left de sostenibilidad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71" name="Shape 171"/>
        <p:cNvGrpSpPr/>
        <p:nvPr/>
      </p:nvGrpSpPr>
      <p:grpSpPr>
        <a:xfrm>
          <a:off x="0" y="0"/>
          <a:ext cx="0" cy="0"/>
          <a:chOff x="0" y="0"/>
          <a:chExt cx="0" cy="0"/>
        </a:xfrm>
      </p:grpSpPr>
      <p:cxnSp>
        <p:nvCxnSpPr>
          <p:cNvPr id="172" name="Google Shape;172;p9"/>
          <p:cNvCxnSpPr/>
          <p:nvPr/>
        </p:nvCxnSpPr>
        <p:spPr>
          <a:xfrm>
            <a:off x="457200" y="475488"/>
            <a:ext cx="8229600" cy="0"/>
          </a:xfrm>
          <a:prstGeom prst="straightConnector1">
            <a:avLst/>
          </a:prstGeom>
          <a:noFill/>
          <a:ln cap="flat" cmpd="sng" w="12700">
            <a:solidFill>
              <a:srgbClr val="BEF264"/>
            </a:solidFill>
            <a:prstDash val="solid"/>
            <a:round/>
            <a:headEnd len="sm" w="sm" type="none"/>
            <a:tailEnd len="sm" w="sm" type="none"/>
          </a:ln>
        </p:spPr>
      </p:cxnSp>
      <p:sp>
        <p:nvSpPr>
          <p:cNvPr id="173" name="Google Shape;173;p9"/>
          <p:cNvSpPr/>
          <p:nvPr/>
        </p:nvSpPr>
        <p:spPr>
          <a:xfrm>
            <a:off x="457200" y="18288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900"/>
              <a:buFont typeface="Calibri"/>
              <a:buNone/>
            </a:pPr>
            <a:r>
              <a:rPr b="1" i="0" lang="en-US" sz="900" u="none" cap="none" strike="noStrike">
                <a:solidFill>
                  <a:srgbClr val="BEF264"/>
                </a:solidFill>
                <a:latin typeface="Calibri"/>
                <a:ea typeface="Calibri"/>
                <a:cs typeface="Calibri"/>
                <a:sym typeface="Calibri"/>
              </a:rPr>
              <a:t>BLOQUE 03</a:t>
            </a:r>
            <a:endParaRPr b="0" i="0" sz="900" u="none" cap="none" strike="noStrike">
              <a:solidFill>
                <a:schemeClr val="dk1"/>
              </a:solidFill>
              <a:latin typeface="Calibri"/>
              <a:ea typeface="Calibri"/>
              <a:cs typeface="Calibri"/>
              <a:sym typeface="Calibri"/>
            </a:endParaRPr>
          </a:p>
        </p:txBody>
      </p:sp>
      <p:sp>
        <p:nvSpPr>
          <p:cNvPr id="174" name="Google Shape;174;p9"/>
          <p:cNvSpPr/>
          <p:nvPr/>
        </p:nvSpPr>
        <p:spPr>
          <a:xfrm>
            <a:off x="457200" y="59436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Arquitecturas de Bajo Impacto</a:t>
            </a:r>
            <a:endParaRPr b="0" i="0" sz="3400" u="none" cap="none" strike="noStrike">
              <a:solidFill>
                <a:schemeClr val="dk1"/>
              </a:solidFill>
              <a:latin typeface="Calibri"/>
              <a:ea typeface="Calibri"/>
              <a:cs typeface="Calibri"/>
              <a:sym typeface="Calibri"/>
            </a:endParaRPr>
          </a:p>
        </p:txBody>
      </p:sp>
      <p:sp>
        <p:nvSpPr>
          <p:cNvPr id="175" name="Google Shape;175;p9"/>
          <p:cNvSpPr/>
          <p:nvPr/>
        </p:nvSpPr>
        <p:spPr>
          <a:xfrm>
            <a:off x="365760" y="1417320"/>
            <a:ext cx="2697480" cy="342900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365760" y="1417320"/>
            <a:ext cx="269748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502920" y="1508760"/>
            <a:ext cx="242316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100"/>
              <a:buFont typeface="Calibri"/>
              <a:buNone/>
            </a:pPr>
            <a:r>
              <a:rPr b="1" i="0" lang="en-US" sz="1100" u="none" cap="none" strike="noStrike">
                <a:solidFill>
                  <a:srgbClr val="BEF264"/>
                </a:solidFill>
                <a:latin typeface="Calibri"/>
                <a:ea typeface="Calibri"/>
                <a:cs typeface="Calibri"/>
                <a:sym typeface="Calibri"/>
              </a:rPr>
              <a:t>VIRTUALIZACIÓN INTELIGENTE</a:t>
            </a:r>
            <a:endParaRPr b="0" i="0" sz="1100" u="none" cap="none" strike="noStrike">
              <a:solidFill>
                <a:schemeClr val="dk1"/>
              </a:solidFill>
              <a:latin typeface="Calibri"/>
              <a:ea typeface="Calibri"/>
              <a:cs typeface="Calibri"/>
              <a:sym typeface="Calibri"/>
            </a:endParaRPr>
          </a:p>
        </p:txBody>
      </p:sp>
      <p:cxnSp>
        <p:nvCxnSpPr>
          <p:cNvPr id="178" name="Google Shape;178;p9"/>
          <p:cNvCxnSpPr/>
          <p:nvPr/>
        </p:nvCxnSpPr>
        <p:spPr>
          <a:xfrm>
            <a:off x="502920" y="2029968"/>
            <a:ext cx="2423160" cy="0"/>
          </a:xfrm>
          <a:prstGeom prst="straightConnector1">
            <a:avLst/>
          </a:prstGeom>
          <a:noFill/>
          <a:ln cap="flat" cmpd="sng" w="9525">
            <a:solidFill>
              <a:srgbClr val="2A2A2A"/>
            </a:solidFill>
            <a:prstDash val="solid"/>
            <a:round/>
            <a:headEnd len="sm" w="sm" type="none"/>
            <a:tailEnd len="sm" w="sm" type="none"/>
          </a:ln>
        </p:spPr>
      </p:cxnSp>
      <p:sp>
        <p:nvSpPr>
          <p:cNvPr id="179" name="Google Shape;179;p9"/>
          <p:cNvSpPr/>
          <p:nvPr/>
        </p:nvSpPr>
        <p:spPr>
          <a:xfrm>
            <a:off x="502920" y="2121408"/>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658368" y="2075688"/>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eBPF para observabilidad de kernel sin overhead</a:t>
            </a:r>
            <a:endParaRPr b="0" i="0" sz="1100" u="none" cap="none" strike="noStrike">
              <a:solidFill>
                <a:schemeClr val="dk1"/>
              </a:solidFill>
              <a:latin typeface="Calibri"/>
              <a:ea typeface="Calibri"/>
              <a:cs typeface="Calibri"/>
              <a:sym typeface="Calibri"/>
            </a:endParaRPr>
          </a:p>
        </p:txBody>
      </p:sp>
      <p:sp>
        <p:nvSpPr>
          <p:cNvPr id="181" name="Google Shape;181;p9"/>
          <p:cNvSpPr/>
          <p:nvPr/>
        </p:nvSpPr>
        <p:spPr>
          <a:xfrm>
            <a:off x="502920" y="2871216"/>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658368" y="2825496"/>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Unikernels: SO mínimo per-aplicación (10× menos RAM)</a:t>
            </a:r>
            <a:endParaRPr b="0" i="0" sz="1100" u="none" cap="none" strike="noStrike">
              <a:solidFill>
                <a:schemeClr val="dk1"/>
              </a:solidFill>
              <a:latin typeface="Calibri"/>
              <a:ea typeface="Calibri"/>
              <a:cs typeface="Calibri"/>
              <a:sym typeface="Calibri"/>
            </a:endParaRPr>
          </a:p>
        </p:txBody>
      </p:sp>
      <p:sp>
        <p:nvSpPr>
          <p:cNvPr id="183" name="Google Shape;183;p9"/>
          <p:cNvSpPr/>
          <p:nvPr/>
        </p:nvSpPr>
        <p:spPr>
          <a:xfrm>
            <a:off x="502920" y="3621024"/>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658368" y="3575304"/>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Firecracker microVMs: densidad ×5, frío en &lt;125ms</a:t>
            </a:r>
            <a:endParaRPr b="0" i="0" sz="1100" u="none" cap="none" strike="noStrike">
              <a:solidFill>
                <a:schemeClr val="dk1"/>
              </a:solidFill>
              <a:latin typeface="Calibri"/>
              <a:ea typeface="Calibri"/>
              <a:cs typeface="Calibri"/>
              <a:sym typeface="Calibri"/>
            </a:endParaRPr>
          </a:p>
        </p:txBody>
      </p:sp>
      <p:sp>
        <p:nvSpPr>
          <p:cNvPr id="185" name="Google Shape;185;p9"/>
          <p:cNvSpPr/>
          <p:nvPr/>
        </p:nvSpPr>
        <p:spPr>
          <a:xfrm>
            <a:off x="502920" y="4370832"/>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658368" y="4325112"/>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Eliminar hipervisores pesados = menos energía</a:t>
            </a:r>
            <a:endParaRPr b="0" i="0" sz="1100" u="none" cap="none" strike="noStrike">
              <a:solidFill>
                <a:schemeClr val="dk1"/>
              </a:solidFill>
              <a:latin typeface="Calibri"/>
              <a:ea typeface="Calibri"/>
              <a:cs typeface="Calibri"/>
              <a:sym typeface="Calibri"/>
            </a:endParaRPr>
          </a:p>
        </p:txBody>
      </p:sp>
      <p:sp>
        <p:nvSpPr>
          <p:cNvPr id="187" name="Google Shape;187;p9"/>
          <p:cNvSpPr/>
          <p:nvPr/>
        </p:nvSpPr>
        <p:spPr>
          <a:xfrm>
            <a:off x="3200400" y="1417320"/>
            <a:ext cx="2697480" cy="342900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3200400" y="1417320"/>
            <a:ext cx="269748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3337560" y="1508760"/>
            <a:ext cx="242316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100"/>
              <a:buFont typeface="Calibri"/>
              <a:buNone/>
            </a:pPr>
            <a:r>
              <a:rPr b="1" i="0" lang="en-US" sz="1100" u="none" cap="none" strike="noStrike">
                <a:solidFill>
                  <a:srgbClr val="BEF264"/>
                </a:solidFill>
                <a:latin typeface="Calibri"/>
                <a:ea typeface="Calibri"/>
                <a:cs typeface="Calibri"/>
                <a:sym typeface="Calibri"/>
              </a:rPr>
              <a:t>EDGE COMPUTING</a:t>
            </a:r>
            <a:endParaRPr b="0" i="0" sz="1100" u="none" cap="none" strike="noStrike">
              <a:solidFill>
                <a:schemeClr val="dk1"/>
              </a:solidFill>
              <a:latin typeface="Calibri"/>
              <a:ea typeface="Calibri"/>
              <a:cs typeface="Calibri"/>
              <a:sym typeface="Calibri"/>
            </a:endParaRPr>
          </a:p>
        </p:txBody>
      </p:sp>
      <p:cxnSp>
        <p:nvCxnSpPr>
          <p:cNvPr id="190" name="Google Shape;190;p9"/>
          <p:cNvCxnSpPr/>
          <p:nvPr/>
        </p:nvCxnSpPr>
        <p:spPr>
          <a:xfrm>
            <a:off x="3337560" y="2029968"/>
            <a:ext cx="2423160" cy="0"/>
          </a:xfrm>
          <a:prstGeom prst="straightConnector1">
            <a:avLst/>
          </a:prstGeom>
          <a:noFill/>
          <a:ln cap="flat" cmpd="sng" w="9525">
            <a:solidFill>
              <a:srgbClr val="2A2A2A"/>
            </a:solidFill>
            <a:prstDash val="solid"/>
            <a:round/>
            <a:headEnd len="sm" w="sm" type="none"/>
            <a:tailEnd len="sm" w="sm" type="none"/>
          </a:ln>
        </p:spPr>
      </p:cxnSp>
      <p:sp>
        <p:nvSpPr>
          <p:cNvPr id="191" name="Google Shape;191;p9"/>
          <p:cNvSpPr/>
          <p:nvPr/>
        </p:nvSpPr>
        <p:spPr>
          <a:xfrm>
            <a:off x="3337560" y="2121408"/>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3493008" y="2075688"/>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Procesar donde se genera el dato elimina tráfico</a:t>
            </a:r>
            <a:endParaRPr b="0" i="0" sz="1100" u="none" cap="none" strike="noStrike">
              <a:solidFill>
                <a:schemeClr val="dk1"/>
              </a:solidFill>
              <a:latin typeface="Calibri"/>
              <a:ea typeface="Calibri"/>
              <a:cs typeface="Calibri"/>
              <a:sym typeface="Calibri"/>
            </a:endParaRPr>
          </a:p>
        </p:txBody>
      </p:sp>
      <p:sp>
        <p:nvSpPr>
          <p:cNvPr id="193" name="Google Shape;193;p9"/>
          <p:cNvSpPr/>
          <p:nvPr/>
        </p:nvSpPr>
        <p:spPr>
          <a:xfrm>
            <a:off x="3337560" y="2871216"/>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3493008" y="2825496"/>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WebAssembly (WASM) en el borde: portable y eficiente</a:t>
            </a:r>
            <a:endParaRPr b="0" i="0" sz="1100" u="none" cap="none" strike="noStrike">
              <a:solidFill>
                <a:schemeClr val="dk1"/>
              </a:solidFill>
              <a:latin typeface="Calibri"/>
              <a:ea typeface="Calibri"/>
              <a:cs typeface="Calibri"/>
              <a:sym typeface="Calibri"/>
            </a:endParaRPr>
          </a:p>
        </p:txBody>
      </p:sp>
      <p:sp>
        <p:nvSpPr>
          <p:cNvPr id="195" name="Google Shape;195;p9"/>
          <p:cNvSpPr/>
          <p:nvPr/>
        </p:nvSpPr>
        <p:spPr>
          <a:xfrm>
            <a:off x="3337560" y="3621024"/>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3493008" y="3575304"/>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Latencia &lt;1ms + menor tráfico = menor huella</a:t>
            </a:r>
            <a:endParaRPr b="0" i="0" sz="1100" u="none" cap="none" strike="noStrike">
              <a:solidFill>
                <a:schemeClr val="dk1"/>
              </a:solidFill>
              <a:latin typeface="Calibri"/>
              <a:ea typeface="Calibri"/>
              <a:cs typeface="Calibri"/>
              <a:sym typeface="Calibri"/>
            </a:endParaRPr>
          </a:p>
        </p:txBody>
      </p:sp>
      <p:sp>
        <p:nvSpPr>
          <p:cNvPr id="197" name="Google Shape;197;p9"/>
          <p:cNvSpPr/>
          <p:nvPr/>
        </p:nvSpPr>
        <p:spPr>
          <a:xfrm>
            <a:off x="3337560" y="4370832"/>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3493008" y="4325112"/>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Casos: IoT industrial, salud, ciudades inteligentes</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6035040" y="1417320"/>
            <a:ext cx="2697480" cy="342900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6035040" y="1417320"/>
            <a:ext cx="2697480" cy="457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6172200" y="1508760"/>
            <a:ext cx="242316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100"/>
              <a:buFont typeface="Calibri"/>
              <a:buNone/>
            </a:pPr>
            <a:r>
              <a:rPr b="1" i="0" lang="en-US" sz="1100" u="none" cap="none" strike="noStrike">
                <a:solidFill>
                  <a:srgbClr val="BEF264"/>
                </a:solidFill>
                <a:latin typeface="Calibri"/>
                <a:ea typeface="Calibri"/>
                <a:cs typeface="Calibri"/>
                <a:sym typeface="Calibri"/>
              </a:rPr>
              <a:t>ORQUESTACIÓN CARBON-AWARE</a:t>
            </a:r>
            <a:endParaRPr b="0" i="0" sz="1100" u="none" cap="none" strike="noStrike">
              <a:solidFill>
                <a:schemeClr val="dk1"/>
              </a:solidFill>
              <a:latin typeface="Calibri"/>
              <a:ea typeface="Calibri"/>
              <a:cs typeface="Calibri"/>
              <a:sym typeface="Calibri"/>
            </a:endParaRPr>
          </a:p>
        </p:txBody>
      </p:sp>
      <p:cxnSp>
        <p:nvCxnSpPr>
          <p:cNvPr id="202" name="Google Shape;202;p9"/>
          <p:cNvCxnSpPr/>
          <p:nvPr/>
        </p:nvCxnSpPr>
        <p:spPr>
          <a:xfrm>
            <a:off x="6172200" y="2029968"/>
            <a:ext cx="2423160" cy="0"/>
          </a:xfrm>
          <a:prstGeom prst="straightConnector1">
            <a:avLst/>
          </a:prstGeom>
          <a:noFill/>
          <a:ln cap="flat" cmpd="sng" w="9525">
            <a:solidFill>
              <a:srgbClr val="2A2A2A"/>
            </a:solidFill>
            <a:prstDash val="solid"/>
            <a:round/>
            <a:headEnd len="sm" w="sm" type="none"/>
            <a:tailEnd len="sm" w="sm" type="none"/>
          </a:ln>
        </p:spPr>
      </p:cxnSp>
      <p:sp>
        <p:nvSpPr>
          <p:cNvPr id="203" name="Google Shape;203;p9"/>
          <p:cNvSpPr/>
          <p:nvPr/>
        </p:nvSpPr>
        <p:spPr>
          <a:xfrm>
            <a:off x="6172200" y="2121408"/>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6327648" y="2075688"/>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Kubernetes Carbon Scheduler: nodes en zonas verdes</a:t>
            </a:r>
            <a:endParaRPr b="0" i="0" sz="1100" u="none" cap="none" strike="noStrike">
              <a:solidFill>
                <a:schemeClr val="dk1"/>
              </a:solidFill>
              <a:latin typeface="Calibri"/>
              <a:ea typeface="Calibri"/>
              <a:cs typeface="Calibri"/>
              <a:sym typeface="Calibri"/>
            </a:endParaRPr>
          </a:p>
        </p:txBody>
      </p:sp>
      <p:sp>
        <p:nvSpPr>
          <p:cNvPr id="205" name="Google Shape;205;p9"/>
          <p:cNvSpPr/>
          <p:nvPr/>
        </p:nvSpPr>
        <p:spPr>
          <a:xfrm>
            <a:off x="6172200" y="2871216"/>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6327648" y="2825496"/>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KEDA (event-driven): scale-to-zero nativo</a:t>
            </a:r>
            <a:endParaRPr b="0" i="0" sz="1100" u="none" cap="none" strike="noStrike">
              <a:solidFill>
                <a:schemeClr val="dk1"/>
              </a:solidFill>
              <a:latin typeface="Calibri"/>
              <a:ea typeface="Calibri"/>
              <a:cs typeface="Calibri"/>
              <a:sym typeface="Calibri"/>
            </a:endParaRPr>
          </a:p>
        </p:txBody>
      </p:sp>
      <p:sp>
        <p:nvSpPr>
          <p:cNvPr id="207" name="Google Shape;207;p9"/>
          <p:cNvSpPr/>
          <p:nvPr/>
        </p:nvSpPr>
        <p:spPr>
          <a:xfrm>
            <a:off x="6172200" y="3621024"/>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6327648" y="3575304"/>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Spot instances + time-shifting de batch jobs</a:t>
            </a:r>
            <a:endParaRPr b="0" i="0" sz="1100" u="none" cap="none" strike="noStrike">
              <a:solidFill>
                <a:schemeClr val="dk1"/>
              </a:solidFill>
              <a:latin typeface="Calibri"/>
              <a:ea typeface="Calibri"/>
              <a:cs typeface="Calibri"/>
              <a:sym typeface="Calibri"/>
            </a:endParaRPr>
          </a:p>
        </p:txBody>
      </p:sp>
      <p:sp>
        <p:nvSpPr>
          <p:cNvPr id="209" name="Google Shape;209;p9"/>
          <p:cNvSpPr/>
          <p:nvPr/>
        </p:nvSpPr>
        <p:spPr>
          <a:xfrm>
            <a:off x="6172200" y="4370832"/>
            <a:ext cx="73152" cy="7315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6327648" y="4325112"/>
            <a:ext cx="22860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FinOps ↔ GreenOps: mismo objetivo, mismas métricas</a:t>
            </a:r>
            <a:endParaRPr b="0" i="0" sz="1100" u="none" cap="none" strike="noStrike">
              <a:solidFill>
                <a:schemeClr val="dk1"/>
              </a:solidFill>
              <a:latin typeface="Calibri"/>
              <a:ea typeface="Calibri"/>
              <a:cs typeface="Calibri"/>
              <a:sym typeface="Calibri"/>
            </a:endParaRPr>
          </a:p>
        </p:txBody>
      </p:sp>
      <p:cxnSp>
        <p:nvCxnSpPr>
          <p:cNvPr id="211" name="Google Shape;211;p9"/>
          <p:cNvCxnSpPr/>
          <p:nvPr/>
        </p:nvCxnSpPr>
        <p:spPr>
          <a:xfrm>
            <a:off x="365760" y="4956048"/>
            <a:ext cx="8412480" cy="0"/>
          </a:xfrm>
          <a:prstGeom prst="straightConnector1">
            <a:avLst/>
          </a:prstGeom>
          <a:noFill/>
          <a:ln cap="flat" cmpd="sng" w="9525">
            <a:solidFill>
              <a:srgbClr val="2A2A2A"/>
            </a:solidFill>
            <a:prstDash val="solid"/>
            <a:round/>
            <a:headEnd len="sm" w="sm" type="none"/>
            <a:tailEnd len="sm" w="sm" type="none"/>
          </a:ln>
        </p:spPr>
      </p:cxnSp>
      <p:sp>
        <p:nvSpPr>
          <p:cNvPr id="212" name="Google Shape;212;p9"/>
          <p:cNvSpPr/>
          <p:nvPr/>
        </p:nvSpPr>
        <p:spPr>
          <a:xfrm>
            <a:off x="365760" y="4828032"/>
            <a:ext cx="841248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900"/>
              <a:buFont typeface="Calibri"/>
              <a:buNone/>
            </a:pPr>
            <a:r>
              <a:rPr b="0" i="0" lang="en-US" sz="900" u="none" cap="none" strike="noStrike">
                <a:solidFill>
                  <a:srgbClr val="7A7A7A"/>
                </a:solidFill>
                <a:latin typeface="Calibri"/>
                <a:ea typeface="Calibri"/>
                <a:cs typeface="Calibri"/>
                <a:sym typeface="Calibri"/>
              </a:rPr>
              <a:t>IEEE Green Cloud Computing · Firecracker (AWS, 2023) · WASM Edge (Bytecode Alliance) · KEDA v2 (CNCF)</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FE6"/>
        </a:solidFill>
      </p:bgPr>
    </p:bg>
    <p:spTree>
      <p:nvGrpSpPr>
        <p:cNvPr id="217" name="Shape 217"/>
        <p:cNvGrpSpPr/>
        <p:nvPr/>
      </p:nvGrpSpPr>
      <p:grpSpPr>
        <a:xfrm>
          <a:off x="0" y="0"/>
          <a:ext cx="0" cy="0"/>
          <a:chOff x="0" y="0"/>
          <a:chExt cx="0" cy="0"/>
        </a:xfrm>
      </p:grpSpPr>
      <p:sp>
        <p:nvSpPr>
          <p:cNvPr id="218" name="Google Shape;218;p10"/>
          <p:cNvSpPr/>
          <p:nvPr/>
        </p:nvSpPr>
        <p:spPr>
          <a:xfrm>
            <a:off x="0" y="0"/>
            <a:ext cx="54864" cy="5143500"/>
          </a:xfrm>
          <a:prstGeom prst="rect">
            <a:avLst/>
          </a:prstGeom>
          <a:solidFill>
            <a:srgbClr val="141414"/>
          </a:solidFill>
          <a:ln cap="flat" cmpd="sng" w="127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274320" y="22860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900"/>
              <a:buFont typeface="Calibri"/>
              <a:buNone/>
            </a:pPr>
            <a:r>
              <a:rPr b="1" i="0" lang="en-US" sz="900" u="none" cap="none" strike="noStrike">
                <a:solidFill>
                  <a:srgbClr val="5A5A5A"/>
                </a:solidFill>
                <a:latin typeface="Calibri"/>
                <a:ea typeface="Calibri"/>
                <a:cs typeface="Calibri"/>
                <a:sym typeface="Calibri"/>
              </a:rPr>
              <a:t>BLOQUE 04</a:t>
            </a:r>
            <a:endParaRPr b="0" i="0" sz="900" u="none" cap="none" strike="noStrike">
              <a:solidFill>
                <a:schemeClr val="dk1"/>
              </a:solidFill>
              <a:latin typeface="Calibri"/>
              <a:ea typeface="Calibri"/>
              <a:cs typeface="Calibri"/>
              <a:sym typeface="Calibri"/>
            </a:endParaRPr>
          </a:p>
        </p:txBody>
      </p:sp>
      <p:sp>
        <p:nvSpPr>
          <p:cNvPr id="220" name="Google Shape;220;p10"/>
          <p:cNvSpPr/>
          <p:nvPr/>
        </p:nvSpPr>
        <p:spPr>
          <a:xfrm>
            <a:off x="274320" y="502920"/>
            <a:ext cx="84124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2800"/>
              <a:buFont typeface="Calibri"/>
              <a:buNone/>
            </a:pPr>
            <a:r>
              <a:rPr b="1" i="0" lang="en-US" sz="2800" u="none" cap="none" strike="noStrike">
                <a:solidFill>
                  <a:srgbClr val="1A1A1A"/>
                </a:solidFill>
                <a:latin typeface="Calibri"/>
                <a:ea typeface="Calibri"/>
                <a:cs typeface="Calibri"/>
                <a:sym typeface="Calibri"/>
              </a:rPr>
              <a:t>IA Local &amp; Automatización</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1A"/>
              </a:buClr>
              <a:buSzPts val="2800"/>
              <a:buFont typeface="Calibri"/>
              <a:buNone/>
            </a:pPr>
            <a:r>
              <a:rPr b="1" i="0" lang="en-US" sz="2800" u="none" cap="none" strike="noStrike">
                <a:solidFill>
                  <a:srgbClr val="1A1A1A"/>
                </a:solidFill>
                <a:latin typeface="Calibri"/>
                <a:ea typeface="Calibri"/>
                <a:cs typeface="Calibri"/>
                <a:sym typeface="Calibri"/>
              </a:rPr>
              <a:t>sin Dependencia de Nube</a:t>
            </a:r>
            <a:endParaRPr b="0" i="0" sz="2800" u="none" cap="none" strike="noStrike">
              <a:solidFill>
                <a:schemeClr val="dk1"/>
              </a:solidFill>
              <a:latin typeface="Calibri"/>
              <a:ea typeface="Calibri"/>
              <a:cs typeface="Calibri"/>
              <a:sym typeface="Calibri"/>
            </a:endParaRPr>
          </a:p>
        </p:txBody>
      </p:sp>
      <p:cxnSp>
        <p:nvCxnSpPr>
          <p:cNvPr id="221" name="Google Shape;221;p10"/>
          <p:cNvCxnSpPr/>
          <p:nvPr/>
        </p:nvCxnSpPr>
        <p:spPr>
          <a:xfrm>
            <a:off x="274320" y="1508760"/>
            <a:ext cx="8412480" cy="0"/>
          </a:xfrm>
          <a:prstGeom prst="straightConnector1">
            <a:avLst/>
          </a:prstGeom>
          <a:noFill/>
          <a:ln cap="flat" cmpd="sng" w="9525">
            <a:solidFill>
              <a:srgbClr val="DDD8CF"/>
            </a:solidFill>
            <a:prstDash val="solid"/>
            <a:round/>
            <a:headEnd len="sm" w="sm" type="none"/>
            <a:tailEnd len="sm" w="sm" type="none"/>
          </a:ln>
        </p:spPr>
      </p:cxnSp>
      <p:sp>
        <p:nvSpPr>
          <p:cNvPr id="222" name="Google Shape;222;p10"/>
          <p:cNvSpPr/>
          <p:nvPr/>
        </p:nvSpPr>
        <p:spPr>
          <a:xfrm>
            <a:off x="274320" y="1664208"/>
            <a:ext cx="5303520" cy="65836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274320" y="1664208"/>
            <a:ext cx="45720" cy="65836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438912" y="1719072"/>
            <a:ext cx="2286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300"/>
              <a:buFont typeface="Calibri"/>
              <a:buNone/>
            </a:pPr>
            <a:r>
              <a:rPr b="1" i="0" lang="en-US" sz="1300" u="none" cap="none" strike="noStrike">
                <a:solidFill>
                  <a:srgbClr val="1A1A1A"/>
                </a:solidFill>
                <a:latin typeface="Calibri"/>
                <a:ea typeface="Calibri"/>
                <a:cs typeface="Calibri"/>
                <a:sym typeface="Calibri"/>
              </a:rPr>
              <a:t>Análisis de logs</a:t>
            </a:r>
            <a:endParaRPr b="0" i="0" sz="1300" u="none" cap="none" strike="noStrike">
              <a:solidFill>
                <a:schemeClr val="dk1"/>
              </a:solidFill>
              <a:latin typeface="Calibri"/>
              <a:ea typeface="Calibri"/>
              <a:cs typeface="Calibri"/>
              <a:sym typeface="Calibri"/>
            </a:endParaRPr>
          </a:p>
        </p:txBody>
      </p:sp>
      <p:sp>
        <p:nvSpPr>
          <p:cNvPr id="225" name="Google Shape;225;p10"/>
          <p:cNvSpPr/>
          <p:nvPr/>
        </p:nvSpPr>
        <p:spPr>
          <a:xfrm>
            <a:off x="438912" y="1993392"/>
            <a:ext cx="2286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000"/>
              <a:buFont typeface="Consolas"/>
              <a:buNone/>
            </a:pPr>
            <a:r>
              <a:rPr b="0" i="0" lang="en-US" sz="1000" u="none" cap="none" strike="noStrike">
                <a:solidFill>
                  <a:srgbClr val="5A5A5A"/>
                </a:solidFill>
                <a:latin typeface="Consolas"/>
                <a:ea typeface="Consolas"/>
                <a:cs typeface="Consolas"/>
                <a:sym typeface="Consolas"/>
              </a:rPr>
              <a:t>Ollama + Llama 3.1</a:t>
            </a:r>
            <a:endParaRPr b="0" i="0" sz="1000" u="none" cap="none" strike="noStrike">
              <a:solidFill>
                <a:schemeClr val="dk1"/>
              </a:solidFill>
              <a:latin typeface="Calibri"/>
              <a:ea typeface="Calibri"/>
              <a:cs typeface="Calibri"/>
              <a:sym typeface="Calibri"/>
            </a:endParaRPr>
          </a:p>
        </p:txBody>
      </p:sp>
      <p:sp>
        <p:nvSpPr>
          <p:cNvPr id="226" name="Google Shape;226;p10"/>
          <p:cNvSpPr/>
          <p:nvPr/>
        </p:nvSpPr>
        <p:spPr>
          <a:xfrm>
            <a:off x="2834640" y="1810512"/>
            <a:ext cx="2606040" cy="310896"/>
          </a:xfrm>
          <a:prstGeom prst="rect">
            <a:avLst/>
          </a:prstGeom>
          <a:solidFill>
            <a:srgbClr val="DDD8CF"/>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p:nvPr/>
        </p:nvSpPr>
        <p:spPr>
          <a:xfrm>
            <a:off x="2834640" y="1810512"/>
            <a:ext cx="26060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−90% latencia vs API externa</a:t>
            </a:r>
            <a:endParaRPr b="0" i="0" sz="1100" u="none" cap="none" strike="noStrike">
              <a:solidFill>
                <a:schemeClr val="dk1"/>
              </a:solidFill>
              <a:latin typeface="Calibri"/>
              <a:ea typeface="Calibri"/>
              <a:cs typeface="Calibri"/>
              <a:sym typeface="Calibri"/>
            </a:endParaRPr>
          </a:p>
        </p:txBody>
      </p:sp>
      <p:sp>
        <p:nvSpPr>
          <p:cNvPr id="228" name="Google Shape;228;p10"/>
          <p:cNvSpPr/>
          <p:nvPr/>
        </p:nvSpPr>
        <p:spPr>
          <a:xfrm>
            <a:off x="274320" y="2414016"/>
            <a:ext cx="5303520" cy="65836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274320" y="2414016"/>
            <a:ext cx="45720" cy="65836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438912" y="2468880"/>
            <a:ext cx="2286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300"/>
              <a:buFont typeface="Calibri"/>
              <a:buNone/>
            </a:pPr>
            <a:r>
              <a:rPr b="1" i="0" lang="en-US" sz="1300" u="none" cap="none" strike="noStrike">
                <a:solidFill>
                  <a:srgbClr val="1A1A1A"/>
                </a:solidFill>
                <a:latin typeface="Calibri"/>
                <a:ea typeface="Calibri"/>
                <a:cs typeface="Calibri"/>
                <a:sym typeface="Calibri"/>
              </a:rPr>
              <a:t>Code review auto</a:t>
            </a:r>
            <a:endParaRPr b="0" i="0" sz="1300" u="none" cap="none" strike="noStrike">
              <a:solidFill>
                <a:schemeClr val="dk1"/>
              </a:solidFill>
              <a:latin typeface="Calibri"/>
              <a:ea typeface="Calibri"/>
              <a:cs typeface="Calibri"/>
              <a:sym typeface="Calibri"/>
            </a:endParaRPr>
          </a:p>
        </p:txBody>
      </p:sp>
      <p:sp>
        <p:nvSpPr>
          <p:cNvPr id="231" name="Google Shape;231;p10"/>
          <p:cNvSpPr/>
          <p:nvPr/>
        </p:nvSpPr>
        <p:spPr>
          <a:xfrm>
            <a:off x="438912" y="2743200"/>
            <a:ext cx="2286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000"/>
              <a:buFont typeface="Consolas"/>
              <a:buNone/>
            </a:pPr>
            <a:r>
              <a:rPr b="0" i="0" lang="en-US" sz="1000" u="none" cap="none" strike="noStrike">
                <a:solidFill>
                  <a:srgbClr val="5A5A5A"/>
                </a:solidFill>
                <a:latin typeface="Consolas"/>
                <a:ea typeface="Consolas"/>
                <a:cs typeface="Consolas"/>
                <a:sym typeface="Consolas"/>
              </a:rPr>
              <a:t>Local Codestral/Qwen</a:t>
            </a:r>
            <a:endParaRPr b="0" i="0" sz="1000" u="none" cap="none" strike="noStrike">
              <a:solidFill>
                <a:schemeClr val="dk1"/>
              </a:solidFill>
              <a:latin typeface="Calibri"/>
              <a:ea typeface="Calibri"/>
              <a:cs typeface="Calibri"/>
              <a:sym typeface="Calibri"/>
            </a:endParaRPr>
          </a:p>
        </p:txBody>
      </p:sp>
      <p:sp>
        <p:nvSpPr>
          <p:cNvPr id="232" name="Google Shape;232;p10"/>
          <p:cNvSpPr/>
          <p:nvPr/>
        </p:nvSpPr>
        <p:spPr>
          <a:xfrm>
            <a:off x="2834640" y="2560320"/>
            <a:ext cx="2606040" cy="310896"/>
          </a:xfrm>
          <a:prstGeom prst="rect">
            <a:avLst/>
          </a:prstGeom>
          <a:solidFill>
            <a:srgbClr val="DDD8CF"/>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2834640" y="2560320"/>
            <a:ext cx="26060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Sin datos en nube externa</a:t>
            </a:r>
            <a:endParaRPr b="0" i="0" sz="1100" u="none" cap="none" strike="noStrike">
              <a:solidFill>
                <a:schemeClr val="dk1"/>
              </a:solidFill>
              <a:latin typeface="Calibri"/>
              <a:ea typeface="Calibri"/>
              <a:cs typeface="Calibri"/>
              <a:sym typeface="Calibri"/>
            </a:endParaRPr>
          </a:p>
        </p:txBody>
      </p:sp>
      <p:sp>
        <p:nvSpPr>
          <p:cNvPr id="234" name="Google Shape;234;p10"/>
          <p:cNvSpPr/>
          <p:nvPr/>
        </p:nvSpPr>
        <p:spPr>
          <a:xfrm>
            <a:off x="274320" y="3163824"/>
            <a:ext cx="5303520" cy="65836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
          <p:cNvSpPr/>
          <p:nvPr/>
        </p:nvSpPr>
        <p:spPr>
          <a:xfrm>
            <a:off x="274320" y="3163824"/>
            <a:ext cx="45720" cy="65836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
          <p:cNvSpPr/>
          <p:nvPr/>
        </p:nvSpPr>
        <p:spPr>
          <a:xfrm>
            <a:off x="438912" y="3218688"/>
            <a:ext cx="2286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300"/>
              <a:buFont typeface="Calibri"/>
              <a:buNone/>
            </a:pPr>
            <a:r>
              <a:rPr b="1" i="0" lang="en-US" sz="1300" u="none" cap="none" strike="noStrike">
                <a:solidFill>
                  <a:srgbClr val="1A1A1A"/>
                </a:solidFill>
                <a:latin typeface="Calibri"/>
                <a:ea typeface="Calibri"/>
                <a:cs typeface="Calibri"/>
                <a:sym typeface="Calibri"/>
              </a:rPr>
              <a:t>IaC generation</a:t>
            </a:r>
            <a:endParaRPr b="0" i="0" sz="1300" u="none" cap="none" strike="noStrike">
              <a:solidFill>
                <a:schemeClr val="dk1"/>
              </a:solidFill>
              <a:latin typeface="Calibri"/>
              <a:ea typeface="Calibri"/>
              <a:cs typeface="Calibri"/>
              <a:sym typeface="Calibri"/>
            </a:endParaRPr>
          </a:p>
        </p:txBody>
      </p:sp>
      <p:sp>
        <p:nvSpPr>
          <p:cNvPr id="237" name="Google Shape;237;p10"/>
          <p:cNvSpPr/>
          <p:nvPr/>
        </p:nvSpPr>
        <p:spPr>
          <a:xfrm>
            <a:off x="438912" y="3493008"/>
            <a:ext cx="2286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000"/>
              <a:buFont typeface="Consolas"/>
              <a:buNone/>
            </a:pPr>
            <a:r>
              <a:rPr b="0" i="0" lang="en-US" sz="1000" u="none" cap="none" strike="noStrike">
                <a:solidFill>
                  <a:srgbClr val="5A5A5A"/>
                </a:solidFill>
                <a:latin typeface="Consolas"/>
                <a:ea typeface="Consolas"/>
                <a:cs typeface="Consolas"/>
                <a:sym typeface="Consolas"/>
              </a:rPr>
              <a:t>MCP + LLM local</a:t>
            </a:r>
            <a:endParaRPr b="0" i="0" sz="1000" u="none" cap="none" strike="noStrike">
              <a:solidFill>
                <a:schemeClr val="dk1"/>
              </a:solidFill>
              <a:latin typeface="Calibri"/>
              <a:ea typeface="Calibri"/>
              <a:cs typeface="Calibri"/>
              <a:sym typeface="Calibri"/>
            </a:endParaRPr>
          </a:p>
        </p:txBody>
      </p:sp>
      <p:sp>
        <p:nvSpPr>
          <p:cNvPr id="238" name="Google Shape;238;p10"/>
          <p:cNvSpPr/>
          <p:nvPr/>
        </p:nvSpPr>
        <p:spPr>
          <a:xfrm>
            <a:off x="2834640" y="3310128"/>
            <a:ext cx="2606040" cy="310896"/>
          </a:xfrm>
          <a:prstGeom prst="rect">
            <a:avLst/>
          </a:prstGeom>
          <a:solidFill>
            <a:srgbClr val="DDD8CF"/>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2834640" y="3310128"/>
            <a:ext cx="26060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Infra como prompt con guardrails</a:t>
            </a:r>
            <a:endParaRPr b="0" i="0" sz="1100" u="none" cap="none" strike="noStrike">
              <a:solidFill>
                <a:schemeClr val="dk1"/>
              </a:solidFill>
              <a:latin typeface="Calibri"/>
              <a:ea typeface="Calibri"/>
              <a:cs typeface="Calibri"/>
              <a:sym typeface="Calibri"/>
            </a:endParaRPr>
          </a:p>
        </p:txBody>
      </p:sp>
      <p:sp>
        <p:nvSpPr>
          <p:cNvPr id="240" name="Google Shape;240;p10"/>
          <p:cNvSpPr/>
          <p:nvPr/>
        </p:nvSpPr>
        <p:spPr>
          <a:xfrm>
            <a:off x="274320" y="3913632"/>
            <a:ext cx="5303520" cy="65836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p:nvPr/>
        </p:nvSpPr>
        <p:spPr>
          <a:xfrm>
            <a:off x="274320" y="3913632"/>
            <a:ext cx="45720" cy="65836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438912" y="3968496"/>
            <a:ext cx="22860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300"/>
              <a:buFont typeface="Calibri"/>
              <a:buNone/>
            </a:pPr>
            <a:r>
              <a:rPr b="1" i="0" lang="en-US" sz="1300" u="none" cap="none" strike="noStrike">
                <a:solidFill>
                  <a:srgbClr val="1A1A1A"/>
                </a:solidFill>
                <a:latin typeface="Calibri"/>
                <a:ea typeface="Calibri"/>
                <a:cs typeface="Calibri"/>
                <a:sym typeface="Calibri"/>
              </a:rPr>
              <a:t>Incident root-cause</a:t>
            </a:r>
            <a:endParaRPr b="0" i="0" sz="1300" u="none" cap="none" strike="noStrike">
              <a:solidFill>
                <a:schemeClr val="dk1"/>
              </a:solidFill>
              <a:latin typeface="Calibri"/>
              <a:ea typeface="Calibri"/>
              <a:cs typeface="Calibri"/>
              <a:sym typeface="Calibri"/>
            </a:endParaRPr>
          </a:p>
        </p:txBody>
      </p:sp>
      <p:sp>
        <p:nvSpPr>
          <p:cNvPr id="243" name="Google Shape;243;p10"/>
          <p:cNvSpPr/>
          <p:nvPr/>
        </p:nvSpPr>
        <p:spPr>
          <a:xfrm>
            <a:off x="438912" y="4242816"/>
            <a:ext cx="2286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000"/>
              <a:buFont typeface="Consolas"/>
              <a:buNone/>
            </a:pPr>
            <a:r>
              <a:rPr b="0" i="0" lang="en-US" sz="1000" u="none" cap="none" strike="noStrike">
                <a:solidFill>
                  <a:srgbClr val="5A5A5A"/>
                </a:solidFill>
                <a:latin typeface="Consolas"/>
                <a:ea typeface="Consolas"/>
                <a:cs typeface="Consolas"/>
                <a:sym typeface="Consolas"/>
              </a:rPr>
              <a:t>RAG sobre runbooks</a:t>
            </a:r>
            <a:endParaRPr b="0" i="0" sz="1000" u="none" cap="none" strike="noStrike">
              <a:solidFill>
                <a:schemeClr val="dk1"/>
              </a:solidFill>
              <a:latin typeface="Calibri"/>
              <a:ea typeface="Calibri"/>
              <a:cs typeface="Calibri"/>
              <a:sym typeface="Calibri"/>
            </a:endParaRPr>
          </a:p>
        </p:txBody>
      </p:sp>
      <p:sp>
        <p:nvSpPr>
          <p:cNvPr id="244" name="Google Shape;244;p10"/>
          <p:cNvSpPr/>
          <p:nvPr/>
        </p:nvSpPr>
        <p:spPr>
          <a:xfrm>
            <a:off x="2834640" y="4059936"/>
            <a:ext cx="2606040" cy="310896"/>
          </a:xfrm>
          <a:prstGeom prst="rect">
            <a:avLst/>
          </a:prstGeom>
          <a:solidFill>
            <a:srgbClr val="DDD8CF"/>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2834640" y="4059936"/>
            <a:ext cx="26060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Diagnóstico en segundos</a:t>
            </a:r>
            <a:endParaRPr b="0" i="0" sz="1100" u="none" cap="none" strike="noStrike">
              <a:solidFill>
                <a:schemeClr val="dk1"/>
              </a:solidFill>
              <a:latin typeface="Calibri"/>
              <a:ea typeface="Calibri"/>
              <a:cs typeface="Calibri"/>
              <a:sym typeface="Calibri"/>
            </a:endParaRPr>
          </a:p>
        </p:txBody>
      </p:sp>
      <p:sp>
        <p:nvSpPr>
          <p:cNvPr id="246" name="Google Shape;246;p10"/>
          <p:cNvSpPr/>
          <p:nvPr/>
        </p:nvSpPr>
        <p:spPr>
          <a:xfrm>
            <a:off x="5806440" y="1664208"/>
            <a:ext cx="2926080" cy="3127248"/>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
          <p:cNvSpPr/>
          <p:nvPr/>
        </p:nvSpPr>
        <p:spPr>
          <a:xfrm>
            <a:off x="5806440" y="1664208"/>
            <a:ext cx="2926080" cy="45720"/>
          </a:xfrm>
          <a:prstGeom prst="rect">
            <a:avLst/>
          </a:prstGeom>
          <a:solidFill>
            <a:srgbClr val="141414"/>
          </a:solidFill>
          <a:ln cap="flat" cmpd="sng" w="127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5806440" y="1737360"/>
            <a:ext cx="292608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MCP STACK 2026</a:t>
            </a:r>
            <a:endParaRPr b="0" i="0" sz="1100" u="none" cap="none" strike="noStrike">
              <a:solidFill>
                <a:schemeClr val="dk1"/>
              </a:solidFill>
              <a:latin typeface="Calibri"/>
              <a:ea typeface="Calibri"/>
              <a:cs typeface="Calibri"/>
              <a:sym typeface="Calibri"/>
            </a:endParaRPr>
          </a:p>
        </p:txBody>
      </p:sp>
      <p:sp>
        <p:nvSpPr>
          <p:cNvPr id="249" name="Google Shape;249;p10"/>
          <p:cNvSpPr/>
          <p:nvPr/>
        </p:nvSpPr>
        <p:spPr>
          <a:xfrm>
            <a:off x="5989320" y="2148840"/>
            <a:ext cx="2560320" cy="475488"/>
          </a:xfrm>
          <a:prstGeom prst="rect">
            <a:avLst/>
          </a:prstGeom>
          <a:solidFill>
            <a:srgbClr val="141414"/>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0"/>
          <p:cNvSpPr/>
          <p:nvPr/>
        </p:nvSpPr>
        <p:spPr>
          <a:xfrm>
            <a:off x="5989320" y="2148840"/>
            <a:ext cx="25603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F264"/>
              </a:buClr>
              <a:buSzPts val="1100"/>
              <a:buFont typeface="Calibri"/>
              <a:buNone/>
            </a:pPr>
            <a:r>
              <a:rPr b="1" i="0" lang="en-US" sz="1100" u="none" cap="none" strike="noStrike">
                <a:solidFill>
                  <a:srgbClr val="BEF264"/>
                </a:solidFill>
                <a:latin typeface="Calibri"/>
                <a:ea typeface="Calibri"/>
                <a:cs typeface="Calibri"/>
                <a:sym typeface="Calibri"/>
              </a:rPr>
              <a:t>Agente IA (orquestador)</a:t>
            </a:r>
            <a:endParaRPr b="0" i="0" sz="1100" u="none" cap="none" strike="noStrike">
              <a:solidFill>
                <a:schemeClr val="dk1"/>
              </a:solidFill>
              <a:latin typeface="Calibri"/>
              <a:ea typeface="Calibri"/>
              <a:cs typeface="Calibri"/>
              <a:sym typeface="Calibri"/>
            </a:endParaRPr>
          </a:p>
        </p:txBody>
      </p:sp>
      <p:sp>
        <p:nvSpPr>
          <p:cNvPr id="251" name="Google Shape;251;p10"/>
          <p:cNvSpPr/>
          <p:nvPr/>
        </p:nvSpPr>
        <p:spPr>
          <a:xfrm>
            <a:off x="6949440" y="2624328"/>
            <a:ext cx="64008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52" name="Google Shape;252;p10"/>
          <p:cNvSpPr/>
          <p:nvPr/>
        </p:nvSpPr>
        <p:spPr>
          <a:xfrm>
            <a:off x="5989320" y="2788920"/>
            <a:ext cx="2560320" cy="475488"/>
          </a:xfrm>
          <a:prstGeom prst="rect">
            <a:avLst/>
          </a:prstGeom>
          <a:solidFill>
            <a:srgbClr val="2A2A2A"/>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5989320" y="2788920"/>
            <a:ext cx="25603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MCP Server (tools)</a:t>
            </a:r>
            <a:endParaRPr b="0" i="0" sz="1100" u="none" cap="none" strike="noStrike">
              <a:solidFill>
                <a:schemeClr val="dk1"/>
              </a:solidFill>
              <a:latin typeface="Calibri"/>
              <a:ea typeface="Calibri"/>
              <a:cs typeface="Calibri"/>
              <a:sym typeface="Calibri"/>
            </a:endParaRPr>
          </a:p>
        </p:txBody>
      </p:sp>
      <p:sp>
        <p:nvSpPr>
          <p:cNvPr id="254" name="Google Shape;254;p10"/>
          <p:cNvSpPr/>
          <p:nvPr/>
        </p:nvSpPr>
        <p:spPr>
          <a:xfrm>
            <a:off x="6949440" y="3264408"/>
            <a:ext cx="64008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55" name="Google Shape;255;p10"/>
          <p:cNvSpPr/>
          <p:nvPr/>
        </p:nvSpPr>
        <p:spPr>
          <a:xfrm>
            <a:off x="5989320" y="3429000"/>
            <a:ext cx="2560320" cy="475488"/>
          </a:xfrm>
          <a:prstGeom prst="rect">
            <a:avLst/>
          </a:prstGeom>
          <a:solidFill>
            <a:srgbClr val="DDD8CF"/>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a:off x="5989320" y="3429000"/>
            <a:ext cx="25603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Calibri"/>
              <a:buNone/>
            </a:pPr>
            <a:r>
              <a:rPr b="1" i="0" lang="en-US" sz="1100" u="none" cap="none" strike="noStrike">
                <a:solidFill>
                  <a:srgbClr val="1A1A1A"/>
                </a:solidFill>
                <a:latin typeface="Calibri"/>
                <a:ea typeface="Calibri"/>
                <a:cs typeface="Calibri"/>
                <a:sym typeface="Calibri"/>
              </a:rPr>
              <a:t>Infra / APIs / K8s</a:t>
            </a:r>
            <a:endParaRPr b="0" i="0" sz="1100" u="none" cap="none" strike="noStrike">
              <a:solidFill>
                <a:schemeClr val="dk1"/>
              </a:solidFill>
              <a:latin typeface="Calibri"/>
              <a:ea typeface="Calibri"/>
              <a:cs typeface="Calibri"/>
              <a:sym typeface="Calibri"/>
            </a:endParaRPr>
          </a:p>
        </p:txBody>
      </p:sp>
      <p:sp>
        <p:nvSpPr>
          <p:cNvPr id="257" name="Google Shape;257;p10"/>
          <p:cNvSpPr/>
          <p:nvPr/>
        </p:nvSpPr>
        <p:spPr>
          <a:xfrm>
            <a:off x="6949440" y="3904488"/>
            <a:ext cx="64008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1100"/>
              <a:buFont typeface="Calibri"/>
              <a:buNone/>
            </a:pPr>
            <a:r>
              <a:rPr b="0" i="0" lang="en-US" sz="1100" u="none" cap="none" strike="noStrike">
                <a:solidFill>
                  <a:srgbClr val="5A5A5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58" name="Google Shape;258;p10"/>
          <p:cNvSpPr/>
          <p:nvPr/>
        </p:nvSpPr>
        <p:spPr>
          <a:xfrm>
            <a:off x="5989320" y="4069080"/>
            <a:ext cx="2560320" cy="475488"/>
          </a:xfrm>
          <a:prstGeom prst="rect">
            <a:avLst/>
          </a:prstGeom>
          <a:solidFill>
            <a:srgbClr val="BEF264"/>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5989320" y="4069080"/>
            <a:ext cx="25603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100"/>
              <a:buFont typeface="Calibri"/>
              <a:buNone/>
            </a:pPr>
            <a:r>
              <a:rPr b="1" i="0" lang="en-US" sz="1100" u="none" cap="none" strike="noStrike">
                <a:solidFill>
                  <a:srgbClr val="0A0A0A"/>
                </a:solidFill>
                <a:latin typeface="Calibri"/>
                <a:ea typeface="Calibri"/>
                <a:cs typeface="Calibri"/>
                <a:sym typeface="Calibri"/>
              </a:rPr>
              <a:t>Guardrails Humanos</a:t>
            </a:r>
            <a:endParaRPr b="0" i="0" sz="1100" u="none" cap="none" strike="noStrike">
              <a:solidFill>
                <a:schemeClr val="dk1"/>
              </a:solidFill>
              <a:latin typeface="Calibri"/>
              <a:ea typeface="Calibri"/>
              <a:cs typeface="Calibri"/>
              <a:sym typeface="Calibri"/>
            </a:endParaRPr>
          </a:p>
        </p:txBody>
      </p:sp>
      <p:cxnSp>
        <p:nvCxnSpPr>
          <p:cNvPr id="260" name="Google Shape;260;p10"/>
          <p:cNvCxnSpPr/>
          <p:nvPr/>
        </p:nvCxnSpPr>
        <p:spPr>
          <a:xfrm>
            <a:off x="274320" y="4956048"/>
            <a:ext cx="8412480" cy="0"/>
          </a:xfrm>
          <a:prstGeom prst="straightConnector1">
            <a:avLst/>
          </a:prstGeom>
          <a:noFill/>
          <a:ln cap="flat" cmpd="sng" w="9525">
            <a:solidFill>
              <a:srgbClr val="DDD8CF"/>
            </a:solidFill>
            <a:prstDash val="solid"/>
            <a:round/>
            <a:headEnd len="sm" w="sm" type="none"/>
            <a:tailEnd len="sm" w="sm" type="none"/>
          </a:ln>
        </p:spPr>
      </p:cxnSp>
      <p:sp>
        <p:nvSpPr>
          <p:cNvPr id="261" name="Google Shape;261;p10"/>
          <p:cNvSpPr/>
          <p:nvPr/>
        </p:nvSpPr>
        <p:spPr>
          <a:xfrm>
            <a:off x="274320" y="4828032"/>
            <a:ext cx="841248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900"/>
              <a:buFont typeface="Calibri"/>
              <a:buNone/>
            </a:pPr>
            <a:r>
              <a:rPr b="0" i="0" lang="en-US" sz="900" u="none" cap="none" strike="noStrike">
                <a:solidFill>
                  <a:srgbClr val="5A5A5A"/>
                </a:solidFill>
                <a:latin typeface="Calibri"/>
                <a:ea typeface="Calibri"/>
                <a:cs typeface="Calibri"/>
                <a:sym typeface="Calibri"/>
              </a:rPr>
              <a:t>Ollama · llama.cpp · LM Studio · Anthropic MCP · State of DevOps Report 2025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66" name="Shape 266"/>
        <p:cNvGrpSpPr/>
        <p:nvPr/>
      </p:nvGrpSpPr>
      <p:grpSpPr>
        <a:xfrm>
          <a:off x="0" y="0"/>
          <a:ext cx="0" cy="0"/>
          <a:chOff x="0" y="0"/>
          <a:chExt cx="0" cy="0"/>
        </a:xfrm>
      </p:grpSpPr>
      <p:cxnSp>
        <p:nvCxnSpPr>
          <p:cNvPr id="267" name="Google Shape;267;p11"/>
          <p:cNvCxnSpPr/>
          <p:nvPr/>
        </p:nvCxnSpPr>
        <p:spPr>
          <a:xfrm>
            <a:off x="457200" y="475488"/>
            <a:ext cx="8229600" cy="0"/>
          </a:xfrm>
          <a:prstGeom prst="straightConnector1">
            <a:avLst/>
          </a:prstGeom>
          <a:noFill/>
          <a:ln cap="flat" cmpd="sng" w="12700">
            <a:solidFill>
              <a:srgbClr val="BEF264"/>
            </a:solidFill>
            <a:prstDash val="solid"/>
            <a:round/>
            <a:headEnd len="sm" w="sm" type="none"/>
            <a:tailEnd len="sm" w="sm" type="none"/>
          </a:ln>
        </p:spPr>
      </p:cxnSp>
      <p:sp>
        <p:nvSpPr>
          <p:cNvPr id="268" name="Google Shape;268;p11"/>
          <p:cNvSpPr/>
          <p:nvPr/>
        </p:nvSpPr>
        <p:spPr>
          <a:xfrm>
            <a:off x="457200" y="182880"/>
            <a:ext cx="27432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900"/>
              <a:buFont typeface="Calibri"/>
              <a:buNone/>
            </a:pPr>
            <a:r>
              <a:rPr b="1" i="0" lang="en-US" sz="900" u="none" cap="none" strike="noStrike">
                <a:solidFill>
                  <a:srgbClr val="BEF264"/>
                </a:solidFill>
                <a:latin typeface="Calibri"/>
                <a:ea typeface="Calibri"/>
                <a:cs typeface="Calibri"/>
                <a:sym typeface="Calibri"/>
              </a:rPr>
              <a:t>BLOQUE 05</a:t>
            </a:r>
            <a:endParaRPr b="0" i="0" sz="900" u="none" cap="none" strike="noStrike">
              <a:solidFill>
                <a:schemeClr val="dk1"/>
              </a:solidFill>
              <a:latin typeface="Calibri"/>
              <a:ea typeface="Calibri"/>
              <a:cs typeface="Calibri"/>
              <a:sym typeface="Calibri"/>
            </a:endParaRPr>
          </a:p>
        </p:txBody>
      </p:sp>
      <p:sp>
        <p:nvSpPr>
          <p:cNvPr id="269" name="Google Shape;269;p11"/>
          <p:cNvSpPr/>
          <p:nvPr/>
        </p:nvSpPr>
        <p:spPr>
          <a:xfrm>
            <a:off x="457200" y="59436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SRE Evolucionado: SLOs de Sostenibilidad</a:t>
            </a:r>
            <a:endParaRPr b="0" i="0" sz="3000" u="none" cap="none" strike="noStrike">
              <a:solidFill>
                <a:schemeClr val="dk1"/>
              </a:solidFill>
              <a:latin typeface="Calibri"/>
              <a:ea typeface="Calibri"/>
              <a:cs typeface="Calibri"/>
              <a:sym typeface="Calibri"/>
            </a:endParaRPr>
          </a:p>
        </p:txBody>
      </p:sp>
      <p:sp>
        <p:nvSpPr>
          <p:cNvPr id="270" name="Google Shape;270;p11"/>
          <p:cNvSpPr/>
          <p:nvPr/>
        </p:nvSpPr>
        <p:spPr>
          <a:xfrm>
            <a:off x="365760" y="1417320"/>
            <a:ext cx="2468880" cy="38404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a:off x="365760" y="1417320"/>
            <a:ext cx="24688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950"/>
              <a:buFont typeface="Calibri"/>
              <a:buNone/>
            </a:pPr>
            <a:r>
              <a:rPr b="1" i="0" lang="en-US" sz="950" u="none" cap="none" strike="noStrike">
                <a:solidFill>
                  <a:srgbClr val="0A0A0A"/>
                </a:solidFill>
                <a:latin typeface="Calibri"/>
                <a:ea typeface="Calibri"/>
                <a:cs typeface="Calibri"/>
                <a:sym typeface="Calibri"/>
              </a:rPr>
              <a:t>MÉTRICA SRE CLÁSICA</a:t>
            </a:r>
            <a:endParaRPr b="0" i="0" sz="950" u="none" cap="none" strike="noStrike">
              <a:solidFill>
                <a:schemeClr val="dk1"/>
              </a:solidFill>
              <a:latin typeface="Calibri"/>
              <a:ea typeface="Calibri"/>
              <a:cs typeface="Calibri"/>
              <a:sym typeface="Calibri"/>
            </a:endParaRPr>
          </a:p>
        </p:txBody>
      </p:sp>
      <p:sp>
        <p:nvSpPr>
          <p:cNvPr id="272" name="Google Shape;272;p11"/>
          <p:cNvSpPr/>
          <p:nvPr/>
        </p:nvSpPr>
        <p:spPr>
          <a:xfrm>
            <a:off x="3017520" y="1417320"/>
            <a:ext cx="2651760" cy="38404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3017520" y="1417320"/>
            <a:ext cx="26517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950"/>
              <a:buFont typeface="Calibri"/>
              <a:buNone/>
            </a:pPr>
            <a:r>
              <a:rPr b="1" i="0" lang="en-US" sz="950" u="none" cap="none" strike="noStrike">
                <a:solidFill>
                  <a:srgbClr val="0A0A0A"/>
                </a:solidFill>
                <a:latin typeface="Calibri"/>
                <a:ea typeface="Calibri"/>
                <a:cs typeface="Calibri"/>
                <a:sym typeface="Calibri"/>
              </a:rPr>
              <a:t>→  SLO TRADICIONAL</a:t>
            </a:r>
            <a:endParaRPr b="0" i="0" sz="950" u="none" cap="none" strike="noStrike">
              <a:solidFill>
                <a:schemeClr val="dk1"/>
              </a:solidFill>
              <a:latin typeface="Calibri"/>
              <a:ea typeface="Calibri"/>
              <a:cs typeface="Calibri"/>
              <a:sym typeface="Calibri"/>
            </a:endParaRPr>
          </a:p>
        </p:txBody>
      </p:sp>
      <p:sp>
        <p:nvSpPr>
          <p:cNvPr id="274" name="Google Shape;274;p11"/>
          <p:cNvSpPr/>
          <p:nvPr/>
        </p:nvSpPr>
        <p:spPr>
          <a:xfrm>
            <a:off x="5852160" y="1417320"/>
            <a:ext cx="2651760" cy="38404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5852160" y="1417320"/>
            <a:ext cx="26517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950"/>
              <a:buFont typeface="Calibri"/>
              <a:buNone/>
            </a:pPr>
            <a:r>
              <a:rPr b="1" i="0" lang="en-US" sz="950" u="none" cap="none" strike="noStrike">
                <a:solidFill>
                  <a:srgbClr val="0A0A0A"/>
                </a:solidFill>
                <a:latin typeface="Calibri"/>
                <a:ea typeface="Calibri"/>
                <a:cs typeface="Calibri"/>
                <a:sym typeface="Calibri"/>
              </a:rPr>
              <a:t>→  SLO SOSTENIBILIDAD 2026</a:t>
            </a:r>
            <a:endParaRPr b="0" i="0" sz="950" u="none" cap="none" strike="noStrike">
              <a:solidFill>
                <a:schemeClr val="dk1"/>
              </a:solidFill>
              <a:latin typeface="Calibri"/>
              <a:ea typeface="Calibri"/>
              <a:cs typeface="Calibri"/>
              <a:sym typeface="Calibri"/>
            </a:endParaRPr>
          </a:p>
        </p:txBody>
      </p:sp>
      <p:sp>
        <p:nvSpPr>
          <p:cNvPr id="276" name="Google Shape;276;p11"/>
          <p:cNvSpPr/>
          <p:nvPr/>
        </p:nvSpPr>
        <p:spPr>
          <a:xfrm>
            <a:off x="365760" y="1901952"/>
            <a:ext cx="2468880" cy="475488"/>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475488" y="1938528"/>
            <a:ext cx="22860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1" i="0" lang="en-US" sz="1100" u="none" cap="none" strike="noStrike">
                <a:solidFill>
                  <a:srgbClr val="F0EBE2"/>
                </a:solidFill>
                <a:latin typeface="Calibri"/>
                <a:ea typeface="Calibri"/>
                <a:cs typeface="Calibri"/>
                <a:sym typeface="Calibri"/>
              </a:rPr>
              <a:t>Disponibilidad</a:t>
            </a:r>
            <a:endParaRPr b="0" i="0" sz="1100" u="none" cap="none" strike="noStrike">
              <a:solidFill>
                <a:schemeClr val="dk1"/>
              </a:solidFill>
              <a:latin typeface="Calibri"/>
              <a:ea typeface="Calibri"/>
              <a:cs typeface="Calibri"/>
              <a:sym typeface="Calibri"/>
            </a:endParaRPr>
          </a:p>
        </p:txBody>
      </p:sp>
      <p:sp>
        <p:nvSpPr>
          <p:cNvPr id="278" name="Google Shape;278;p11"/>
          <p:cNvSpPr/>
          <p:nvPr/>
        </p:nvSpPr>
        <p:spPr>
          <a:xfrm>
            <a:off x="3017520" y="1901952"/>
            <a:ext cx="2651760" cy="475488"/>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3127248" y="193852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99.9% uptime</a:t>
            </a:r>
            <a:endParaRPr b="0" i="0" sz="1100" u="none" cap="none" strike="noStrike">
              <a:solidFill>
                <a:schemeClr val="dk1"/>
              </a:solidFill>
              <a:latin typeface="Calibri"/>
              <a:ea typeface="Calibri"/>
              <a:cs typeface="Calibri"/>
              <a:sym typeface="Calibri"/>
            </a:endParaRPr>
          </a:p>
        </p:txBody>
      </p:sp>
      <p:sp>
        <p:nvSpPr>
          <p:cNvPr id="280" name="Google Shape;280;p11"/>
          <p:cNvSpPr/>
          <p:nvPr/>
        </p:nvSpPr>
        <p:spPr>
          <a:xfrm>
            <a:off x="5852160" y="1901952"/>
            <a:ext cx="2651760" cy="475488"/>
          </a:xfrm>
          <a:prstGeom prst="rect">
            <a:avLst/>
          </a:prstGeom>
          <a:solidFill>
            <a:srgbClr val="1E2D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1"/>
          <p:cNvSpPr/>
          <p:nvPr/>
        </p:nvSpPr>
        <p:spPr>
          <a:xfrm>
            <a:off x="5961888" y="193852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100"/>
              <a:buFont typeface="Calibri"/>
              <a:buNone/>
            </a:pPr>
            <a:r>
              <a:rPr b="0" i="0" lang="en-US" sz="1100" u="none" cap="none" strike="noStrike">
                <a:solidFill>
                  <a:srgbClr val="BEF264"/>
                </a:solidFill>
                <a:latin typeface="Calibri"/>
                <a:ea typeface="Calibri"/>
                <a:cs typeface="Calibri"/>
                <a:sym typeface="Calibri"/>
              </a:rPr>
              <a:t>99.9% uptime + &lt;X gCO₂/req</a:t>
            </a:r>
            <a:endParaRPr b="0" i="0" sz="1100" u="none" cap="none" strike="noStrike">
              <a:solidFill>
                <a:schemeClr val="dk1"/>
              </a:solidFill>
              <a:latin typeface="Calibri"/>
              <a:ea typeface="Calibri"/>
              <a:cs typeface="Calibri"/>
              <a:sym typeface="Calibri"/>
            </a:endParaRPr>
          </a:p>
        </p:txBody>
      </p:sp>
      <p:sp>
        <p:nvSpPr>
          <p:cNvPr id="282" name="Google Shape;282;p11"/>
          <p:cNvSpPr/>
          <p:nvPr/>
        </p:nvSpPr>
        <p:spPr>
          <a:xfrm>
            <a:off x="365760" y="2450592"/>
            <a:ext cx="2468880" cy="475488"/>
          </a:xfrm>
          <a:prstGeom prst="rect">
            <a:avLst/>
          </a:prstGeom>
          <a:solidFill>
            <a:srgbClr val="141414"/>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475488" y="2487168"/>
            <a:ext cx="22860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1" i="0" lang="en-US" sz="1100" u="none" cap="none" strike="noStrike">
                <a:solidFill>
                  <a:srgbClr val="F0EBE2"/>
                </a:solidFill>
                <a:latin typeface="Calibri"/>
                <a:ea typeface="Calibri"/>
                <a:cs typeface="Calibri"/>
                <a:sym typeface="Calibri"/>
              </a:rPr>
              <a:t>Latencia</a:t>
            </a:r>
            <a:endParaRPr b="0" i="0" sz="1100" u="none" cap="none" strike="noStrike">
              <a:solidFill>
                <a:schemeClr val="dk1"/>
              </a:solidFill>
              <a:latin typeface="Calibri"/>
              <a:ea typeface="Calibri"/>
              <a:cs typeface="Calibri"/>
              <a:sym typeface="Calibri"/>
            </a:endParaRPr>
          </a:p>
        </p:txBody>
      </p:sp>
      <p:sp>
        <p:nvSpPr>
          <p:cNvPr id="284" name="Google Shape;284;p11"/>
          <p:cNvSpPr/>
          <p:nvPr/>
        </p:nvSpPr>
        <p:spPr>
          <a:xfrm>
            <a:off x="3017520" y="2450592"/>
            <a:ext cx="2651760" cy="475488"/>
          </a:xfrm>
          <a:prstGeom prst="rect">
            <a:avLst/>
          </a:prstGeom>
          <a:solidFill>
            <a:srgbClr val="141414"/>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3127248" y="248716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p99 &lt; 200ms</a:t>
            </a:r>
            <a:endParaRPr b="0" i="0" sz="1100" u="none" cap="none" strike="noStrike">
              <a:solidFill>
                <a:schemeClr val="dk1"/>
              </a:solidFill>
              <a:latin typeface="Calibri"/>
              <a:ea typeface="Calibri"/>
              <a:cs typeface="Calibri"/>
              <a:sym typeface="Calibri"/>
            </a:endParaRPr>
          </a:p>
        </p:txBody>
      </p:sp>
      <p:sp>
        <p:nvSpPr>
          <p:cNvPr id="286" name="Google Shape;286;p11"/>
          <p:cNvSpPr/>
          <p:nvPr/>
        </p:nvSpPr>
        <p:spPr>
          <a:xfrm>
            <a:off x="5852160" y="2450592"/>
            <a:ext cx="2651760" cy="475488"/>
          </a:xfrm>
          <a:prstGeom prst="rect">
            <a:avLst/>
          </a:prstGeom>
          <a:solidFill>
            <a:srgbClr val="1E2D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5961888" y="248716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100"/>
              <a:buFont typeface="Calibri"/>
              <a:buNone/>
            </a:pPr>
            <a:r>
              <a:rPr b="0" i="0" lang="en-US" sz="1100" u="none" cap="none" strike="noStrike">
                <a:solidFill>
                  <a:srgbClr val="BEF264"/>
                </a:solidFill>
                <a:latin typeface="Calibri"/>
                <a:ea typeface="Calibri"/>
                <a:cs typeface="Calibri"/>
                <a:sym typeface="Calibri"/>
              </a:rPr>
              <a:t>p99 &lt; 200ms + eficiencia energética</a:t>
            </a:r>
            <a:endParaRPr b="0" i="0" sz="1100" u="none" cap="none" strike="noStrike">
              <a:solidFill>
                <a:schemeClr val="dk1"/>
              </a:solidFill>
              <a:latin typeface="Calibri"/>
              <a:ea typeface="Calibri"/>
              <a:cs typeface="Calibri"/>
              <a:sym typeface="Calibri"/>
            </a:endParaRPr>
          </a:p>
        </p:txBody>
      </p:sp>
      <p:sp>
        <p:nvSpPr>
          <p:cNvPr id="288" name="Google Shape;288;p11"/>
          <p:cNvSpPr/>
          <p:nvPr/>
        </p:nvSpPr>
        <p:spPr>
          <a:xfrm>
            <a:off x="365760" y="2999232"/>
            <a:ext cx="2468880" cy="475488"/>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475488" y="3035808"/>
            <a:ext cx="22860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1" i="0" lang="en-US" sz="1100" u="none" cap="none" strike="noStrike">
                <a:solidFill>
                  <a:srgbClr val="F0EBE2"/>
                </a:solidFill>
                <a:latin typeface="Calibri"/>
                <a:ea typeface="Calibri"/>
                <a:cs typeface="Calibri"/>
                <a:sym typeface="Calibri"/>
              </a:rPr>
              <a:t>Error Rate</a:t>
            </a:r>
            <a:endParaRPr b="0" i="0" sz="1100" u="none" cap="none" strike="noStrike">
              <a:solidFill>
                <a:schemeClr val="dk1"/>
              </a:solidFill>
              <a:latin typeface="Calibri"/>
              <a:ea typeface="Calibri"/>
              <a:cs typeface="Calibri"/>
              <a:sym typeface="Calibri"/>
            </a:endParaRPr>
          </a:p>
        </p:txBody>
      </p:sp>
      <p:sp>
        <p:nvSpPr>
          <p:cNvPr id="290" name="Google Shape;290;p11"/>
          <p:cNvSpPr/>
          <p:nvPr/>
        </p:nvSpPr>
        <p:spPr>
          <a:xfrm>
            <a:off x="3017520" y="2999232"/>
            <a:ext cx="2651760" cy="475488"/>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3127248" y="303580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&lt; 0.1% errors</a:t>
            </a:r>
            <a:endParaRPr b="0" i="0" sz="1100" u="none" cap="none" strike="noStrike">
              <a:solidFill>
                <a:schemeClr val="dk1"/>
              </a:solidFill>
              <a:latin typeface="Calibri"/>
              <a:ea typeface="Calibri"/>
              <a:cs typeface="Calibri"/>
              <a:sym typeface="Calibri"/>
            </a:endParaRPr>
          </a:p>
        </p:txBody>
      </p:sp>
      <p:sp>
        <p:nvSpPr>
          <p:cNvPr id="292" name="Google Shape;292;p11"/>
          <p:cNvSpPr/>
          <p:nvPr/>
        </p:nvSpPr>
        <p:spPr>
          <a:xfrm>
            <a:off x="5852160" y="2999232"/>
            <a:ext cx="2651760" cy="475488"/>
          </a:xfrm>
          <a:prstGeom prst="rect">
            <a:avLst/>
          </a:prstGeom>
          <a:solidFill>
            <a:srgbClr val="1E2D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5961888" y="303580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100"/>
              <a:buFont typeface="Calibri"/>
              <a:buNone/>
            </a:pPr>
            <a:r>
              <a:rPr b="0" i="0" lang="en-US" sz="1100" u="none" cap="none" strike="noStrike">
                <a:solidFill>
                  <a:srgbClr val="BEF264"/>
                </a:solidFill>
                <a:latin typeface="Calibri"/>
                <a:ea typeface="Calibri"/>
                <a:cs typeface="Calibri"/>
                <a:sym typeface="Calibri"/>
              </a:rPr>
              <a:t>&lt; 0.1% errors + carbon waste &lt; umbral</a:t>
            </a:r>
            <a:endParaRPr b="0" i="0" sz="1100" u="none" cap="none" strike="noStrike">
              <a:solidFill>
                <a:schemeClr val="dk1"/>
              </a:solidFill>
              <a:latin typeface="Calibri"/>
              <a:ea typeface="Calibri"/>
              <a:cs typeface="Calibri"/>
              <a:sym typeface="Calibri"/>
            </a:endParaRPr>
          </a:p>
        </p:txBody>
      </p:sp>
      <p:sp>
        <p:nvSpPr>
          <p:cNvPr id="294" name="Google Shape;294;p11"/>
          <p:cNvSpPr/>
          <p:nvPr/>
        </p:nvSpPr>
        <p:spPr>
          <a:xfrm>
            <a:off x="365760" y="3547872"/>
            <a:ext cx="2468880" cy="475488"/>
          </a:xfrm>
          <a:prstGeom prst="rect">
            <a:avLst/>
          </a:prstGeom>
          <a:solidFill>
            <a:srgbClr val="141414"/>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475488" y="3584448"/>
            <a:ext cx="22860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1" i="0" lang="en-US" sz="1100" u="none" cap="none" strike="noStrike">
                <a:solidFill>
                  <a:srgbClr val="F0EBE2"/>
                </a:solidFill>
                <a:latin typeface="Calibri"/>
                <a:ea typeface="Calibri"/>
                <a:cs typeface="Calibri"/>
                <a:sym typeface="Calibri"/>
              </a:rPr>
              <a:t>Throughput</a:t>
            </a:r>
            <a:endParaRPr b="0" i="0" sz="1100" u="none" cap="none" strike="noStrike">
              <a:solidFill>
                <a:schemeClr val="dk1"/>
              </a:solidFill>
              <a:latin typeface="Calibri"/>
              <a:ea typeface="Calibri"/>
              <a:cs typeface="Calibri"/>
              <a:sym typeface="Calibri"/>
            </a:endParaRPr>
          </a:p>
        </p:txBody>
      </p:sp>
      <p:sp>
        <p:nvSpPr>
          <p:cNvPr id="296" name="Google Shape;296;p11"/>
          <p:cNvSpPr/>
          <p:nvPr/>
        </p:nvSpPr>
        <p:spPr>
          <a:xfrm>
            <a:off x="3017520" y="3547872"/>
            <a:ext cx="2651760" cy="475488"/>
          </a:xfrm>
          <a:prstGeom prst="rect">
            <a:avLst/>
          </a:prstGeom>
          <a:solidFill>
            <a:srgbClr val="141414"/>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3127248" y="358444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X req/seg sostenido</a:t>
            </a:r>
            <a:endParaRPr b="0" i="0" sz="1100" u="none" cap="none" strike="noStrike">
              <a:solidFill>
                <a:schemeClr val="dk1"/>
              </a:solidFill>
              <a:latin typeface="Calibri"/>
              <a:ea typeface="Calibri"/>
              <a:cs typeface="Calibri"/>
              <a:sym typeface="Calibri"/>
            </a:endParaRPr>
          </a:p>
        </p:txBody>
      </p:sp>
      <p:sp>
        <p:nvSpPr>
          <p:cNvPr id="298" name="Google Shape;298;p11"/>
          <p:cNvSpPr/>
          <p:nvPr/>
        </p:nvSpPr>
        <p:spPr>
          <a:xfrm>
            <a:off x="5852160" y="3547872"/>
            <a:ext cx="2651760" cy="475488"/>
          </a:xfrm>
          <a:prstGeom prst="rect">
            <a:avLst/>
          </a:prstGeom>
          <a:solidFill>
            <a:srgbClr val="1E2D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5961888" y="358444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100"/>
              <a:buFont typeface="Calibri"/>
              <a:buNone/>
            </a:pPr>
            <a:r>
              <a:rPr b="0" i="0" lang="en-US" sz="1100" u="none" cap="none" strike="noStrike">
                <a:solidFill>
                  <a:srgbClr val="BEF264"/>
                </a:solidFill>
                <a:latin typeface="Calibri"/>
                <a:ea typeface="Calibri"/>
                <a:cs typeface="Calibri"/>
                <a:sym typeface="Calibri"/>
              </a:rPr>
              <a:t>X req/seg + energía por req ≤ Y</a:t>
            </a:r>
            <a:endParaRPr b="0" i="0" sz="1100" u="none" cap="none" strike="noStrike">
              <a:solidFill>
                <a:schemeClr val="dk1"/>
              </a:solidFill>
              <a:latin typeface="Calibri"/>
              <a:ea typeface="Calibri"/>
              <a:cs typeface="Calibri"/>
              <a:sym typeface="Calibri"/>
            </a:endParaRPr>
          </a:p>
        </p:txBody>
      </p:sp>
      <p:sp>
        <p:nvSpPr>
          <p:cNvPr id="300" name="Google Shape;300;p11"/>
          <p:cNvSpPr/>
          <p:nvPr/>
        </p:nvSpPr>
        <p:spPr>
          <a:xfrm>
            <a:off x="365760" y="4096512"/>
            <a:ext cx="2468880" cy="475488"/>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a:off x="475488" y="4133088"/>
            <a:ext cx="228600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1" i="0" lang="en-US" sz="1100" u="none" cap="none" strike="noStrike">
                <a:solidFill>
                  <a:srgbClr val="F0EBE2"/>
                </a:solidFill>
                <a:latin typeface="Calibri"/>
                <a:ea typeface="Calibri"/>
                <a:cs typeface="Calibri"/>
                <a:sym typeface="Calibri"/>
              </a:rPr>
              <a:t>Error Budget</a:t>
            </a:r>
            <a:endParaRPr b="0" i="0" sz="1100" u="none" cap="none" strike="noStrike">
              <a:solidFill>
                <a:schemeClr val="dk1"/>
              </a:solidFill>
              <a:latin typeface="Calibri"/>
              <a:ea typeface="Calibri"/>
              <a:cs typeface="Calibri"/>
              <a:sym typeface="Calibri"/>
            </a:endParaRPr>
          </a:p>
        </p:txBody>
      </p:sp>
      <p:sp>
        <p:nvSpPr>
          <p:cNvPr id="302" name="Google Shape;302;p11"/>
          <p:cNvSpPr/>
          <p:nvPr/>
        </p:nvSpPr>
        <p:spPr>
          <a:xfrm>
            <a:off x="3017520" y="4096512"/>
            <a:ext cx="2651760" cy="475488"/>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3127248" y="413308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100"/>
              <a:buFont typeface="Calibri"/>
              <a:buNone/>
            </a:pPr>
            <a:r>
              <a:rPr b="0" i="0" lang="en-US" sz="1100" u="none" cap="none" strike="noStrike">
                <a:solidFill>
                  <a:srgbClr val="F0EBE2"/>
                </a:solidFill>
                <a:latin typeface="Calibri"/>
                <a:ea typeface="Calibri"/>
                <a:cs typeface="Calibri"/>
                <a:sym typeface="Calibri"/>
              </a:rPr>
              <a:t>Tiempo permitido de falla</a:t>
            </a:r>
            <a:endParaRPr b="0" i="0" sz="1100" u="none" cap="none" strike="noStrike">
              <a:solidFill>
                <a:schemeClr val="dk1"/>
              </a:solidFill>
              <a:latin typeface="Calibri"/>
              <a:ea typeface="Calibri"/>
              <a:cs typeface="Calibri"/>
              <a:sym typeface="Calibri"/>
            </a:endParaRPr>
          </a:p>
        </p:txBody>
      </p:sp>
      <p:sp>
        <p:nvSpPr>
          <p:cNvPr id="304" name="Google Shape;304;p11"/>
          <p:cNvSpPr/>
          <p:nvPr/>
        </p:nvSpPr>
        <p:spPr>
          <a:xfrm>
            <a:off x="5852160" y="4096512"/>
            <a:ext cx="2651760" cy="475488"/>
          </a:xfrm>
          <a:prstGeom prst="rect">
            <a:avLst/>
          </a:prstGeom>
          <a:solidFill>
            <a:srgbClr val="1E2D1A"/>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5961888" y="4133088"/>
            <a:ext cx="246888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100"/>
              <a:buFont typeface="Calibri"/>
              <a:buNone/>
            </a:pPr>
            <a:r>
              <a:rPr b="0" i="0" lang="en-US" sz="1100" u="none" cap="none" strike="noStrike">
                <a:solidFill>
                  <a:srgbClr val="BEF264"/>
                </a:solidFill>
                <a:latin typeface="Calibri"/>
                <a:ea typeface="Calibri"/>
                <a:cs typeface="Calibri"/>
                <a:sym typeface="Calibri"/>
              </a:rPr>
              <a:t>Budget dual: falla + carbon overage</a:t>
            </a:r>
            <a:endParaRPr b="0" i="0" sz="1100" u="none" cap="none" strike="noStrike">
              <a:solidFill>
                <a:schemeClr val="dk1"/>
              </a:solidFill>
              <a:latin typeface="Calibri"/>
              <a:ea typeface="Calibri"/>
              <a:cs typeface="Calibri"/>
              <a:sym typeface="Calibri"/>
            </a:endParaRPr>
          </a:p>
        </p:txBody>
      </p:sp>
      <p:sp>
        <p:nvSpPr>
          <p:cNvPr id="306" name="Google Shape;306;p11"/>
          <p:cNvSpPr/>
          <p:nvPr/>
        </p:nvSpPr>
        <p:spPr>
          <a:xfrm>
            <a:off x="365760" y="4617720"/>
            <a:ext cx="8412480" cy="365760"/>
          </a:xfrm>
          <a:prstGeom prst="rect">
            <a:avLst/>
          </a:prstGeom>
          <a:solidFill>
            <a:srgbClr val="1E1E1E"/>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365760" y="4617720"/>
            <a:ext cx="84124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F264"/>
              </a:buClr>
              <a:buSzPts val="1100"/>
              <a:buFont typeface="Calibri"/>
              <a:buNone/>
            </a:pPr>
            <a:r>
              <a:rPr b="0" i="1" lang="en-US" sz="1100" u="none" cap="none" strike="noStrike">
                <a:solidFill>
                  <a:srgbClr val="BEF264"/>
                </a:solidFill>
                <a:latin typeface="Calibri"/>
                <a:ea typeface="Calibri"/>
                <a:cs typeface="Calibri"/>
                <a:sym typeface="Calibri"/>
              </a:rPr>
              <a:t>"Un sistema que cumple el SLO de disponibilidad pero consume el doble de energía necesaria, está fallando."  — SRE Manual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FE6"/>
        </a:solidFill>
      </p:bgPr>
    </p:bg>
    <p:spTree>
      <p:nvGrpSpPr>
        <p:cNvPr id="312" name="Shape 312"/>
        <p:cNvGrpSpPr/>
        <p:nvPr/>
      </p:nvGrpSpPr>
      <p:grpSpPr>
        <a:xfrm>
          <a:off x="0" y="0"/>
          <a:ext cx="0" cy="0"/>
          <a:chOff x="0" y="0"/>
          <a:chExt cx="0" cy="0"/>
        </a:xfrm>
      </p:grpSpPr>
      <p:sp>
        <p:nvSpPr>
          <p:cNvPr id="313" name="Google Shape;313;p12"/>
          <p:cNvSpPr/>
          <p:nvPr/>
        </p:nvSpPr>
        <p:spPr>
          <a:xfrm>
            <a:off x="0" y="0"/>
            <a:ext cx="54864" cy="514350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274320" y="228600"/>
            <a:ext cx="27432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900"/>
              <a:buFont typeface="Calibri"/>
              <a:buNone/>
            </a:pPr>
            <a:r>
              <a:rPr b="1" i="0" lang="en-US" sz="900" u="none" cap="none" strike="noStrike">
                <a:solidFill>
                  <a:srgbClr val="5A5A5A"/>
                </a:solidFill>
                <a:latin typeface="Calibri"/>
                <a:ea typeface="Calibri"/>
                <a:cs typeface="Calibri"/>
                <a:sym typeface="Calibri"/>
              </a:rPr>
              <a:t>SÍNTESIS</a:t>
            </a:r>
            <a:endParaRPr b="0" i="0" sz="900" u="none" cap="none" strike="noStrike">
              <a:solidFill>
                <a:schemeClr val="dk1"/>
              </a:solidFill>
              <a:latin typeface="Calibri"/>
              <a:ea typeface="Calibri"/>
              <a:cs typeface="Calibri"/>
              <a:sym typeface="Calibri"/>
            </a:endParaRPr>
          </a:p>
        </p:txBody>
      </p:sp>
      <p:sp>
        <p:nvSpPr>
          <p:cNvPr id="315" name="Google Shape;315;p12"/>
          <p:cNvSpPr/>
          <p:nvPr/>
        </p:nvSpPr>
        <p:spPr>
          <a:xfrm>
            <a:off x="274320" y="502920"/>
            <a:ext cx="84124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2800"/>
              <a:buFont typeface="Calibri"/>
              <a:buNone/>
            </a:pPr>
            <a:r>
              <a:rPr b="1" i="0" lang="en-US" sz="2800" u="none" cap="none" strike="noStrike">
                <a:solidFill>
                  <a:srgbClr val="1A1A1A"/>
                </a:solidFill>
                <a:latin typeface="Calibri"/>
                <a:ea typeface="Calibri"/>
                <a:cs typeface="Calibri"/>
                <a:sym typeface="Calibri"/>
              </a:rPr>
              <a:t>Los Tres Pilares de la</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1A"/>
              </a:buClr>
              <a:buSzPts val="2800"/>
              <a:buFont typeface="Calibri"/>
              <a:buNone/>
            </a:pPr>
            <a:r>
              <a:rPr b="1" i="0" lang="en-US" sz="2800" u="none" cap="none" strike="noStrike">
                <a:solidFill>
                  <a:srgbClr val="1A1A1A"/>
                </a:solidFill>
                <a:latin typeface="Calibri"/>
                <a:ea typeface="Calibri"/>
                <a:cs typeface="Calibri"/>
                <a:sym typeface="Calibri"/>
              </a:rPr>
              <a:t>Sostenibilidad DevOps</a:t>
            </a:r>
            <a:endParaRPr b="0" i="0" sz="2800" u="none" cap="none" strike="noStrike">
              <a:solidFill>
                <a:schemeClr val="dk1"/>
              </a:solidFill>
              <a:latin typeface="Calibri"/>
              <a:ea typeface="Calibri"/>
              <a:cs typeface="Calibri"/>
              <a:sym typeface="Calibri"/>
            </a:endParaRPr>
          </a:p>
        </p:txBody>
      </p:sp>
      <p:cxnSp>
        <p:nvCxnSpPr>
          <p:cNvPr id="316" name="Google Shape;316;p12"/>
          <p:cNvCxnSpPr/>
          <p:nvPr/>
        </p:nvCxnSpPr>
        <p:spPr>
          <a:xfrm>
            <a:off x="274320" y="1508760"/>
            <a:ext cx="8412480" cy="0"/>
          </a:xfrm>
          <a:prstGeom prst="straightConnector1">
            <a:avLst/>
          </a:prstGeom>
          <a:noFill/>
          <a:ln cap="flat" cmpd="sng" w="9525">
            <a:solidFill>
              <a:srgbClr val="DDD8CF"/>
            </a:solidFill>
            <a:prstDash val="solid"/>
            <a:round/>
            <a:headEnd len="sm" w="sm" type="none"/>
            <a:tailEnd len="sm" w="sm" type="none"/>
          </a:ln>
        </p:spPr>
      </p:cxnSp>
      <p:sp>
        <p:nvSpPr>
          <p:cNvPr id="317" name="Google Shape;317;p12"/>
          <p:cNvSpPr/>
          <p:nvPr/>
        </p:nvSpPr>
        <p:spPr>
          <a:xfrm>
            <a:off x="274320" y="1664208"/>
            <a:ext cx="2743200" cy="320040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p:nvPr/>
        </p:nvSpPr>
        <p:spPr>
          <a:xfrm>
            <a:off x="274320" y="1664208"/>
            <a:ext cx="2743200" cy="45720"/>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p:nvPr/>
        </p:nvSpPr>
        <p:spPr>
          <a:xfrm>
            <a:off x="411480" y="1737360"/>
            <a:ext cx="411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2000"/>
              <a:buFont typeface="Calibri"/>
              <a:buNone/>
            </a:pPr>
            <a:r>
              <a:rPr b="1" i="0" lang="en-US" sz="2000" u="none" cap="none" strike="noStrike">
                <a:solidFill>
                  <a:srgbClr val="1A1A1A"/>
                </a:solidFill>
                <a:latin typeface="Calibri"/>
                <a:ea typeface="Calibri"/>
                <a:cs typeface="Calibri"/>
                <a:sym typeface="Calibri"/>
              </a:rPr>
              <a:t>01</a:t>
            </a:r>
            <a:endParaRPr b="0" i="0" sz="2000" u="none" cap="none" strike="noStrike">
              <a:solidFill>
                <a:schemeClr val="dk1"/>
              </a:solidFill>
              <a:latin typeface="Calibri"/>
              <a:ea typeface="Calibri"/>
              <a:cs typeface="Calibri"/>
              <a:sym typeface="Calibri"/>
            </a:endParaRPr>
          </a:p>
        </p:txBody>
      </p:sp>
      <p:sp>
        <p:nvSpPr>
          <p:cNvPr id="320" name="Google Shape;320;p12"/>
          <p:cNvSpPr/>
          <p:nvPr/>
        </p:nvSpPr>
        <p:spPr>
          <a:xfrm>
            <a:off x="411480" y="2084832"/>
            <a:ext cx="24688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2000"/>
              <a:buFont typeface="Calibri"/>
              <a:buNone/>
            </a:pPr>
            <a:r>
              <a:rPr b="1" i="0" lang="en-US" sz="2000" u="none" cap="none" strike="noStrike">
                <a:solidFill>
                  <a:srgbClr val="1A1A1A"/>
                </a:solidFill>
                <a:latin typeface="Calibri"/>
                <a:ea typeface="Calibri"/>
                <a:cs typeface="Calibri"/>
                <a:sym typeface="Calibri"/>
              </a:rPr>
              <a:t>Humana</a:t>
            </a:r>
            <a:endParaRPr b="0" i="0" sz="2000" u="none" cap="none" strike="noStrike">
              <a:solidFill>
                <a:schemeClr val="dk1"/>
              </a:solidFill>
              <a:latin typeface="Calibri"/>
              <a:ea typeface="Calibri"/>
              <a:cs typeface="Calibri"/>
              <a:sym typeface="Calibri"/>
            </a:endParaRPr>
          </a:p>
        </p:txBody>
      </p:sp>
      <p:cxnSp>
        <p:nvCxnSpPr>
          <p:cNvPr id="321" name="Google Shape;321;p12"/>
          <p:cNvCxnSpPr/>
          <p:nvPr/>
        </p:nvCxnSpPr>
        <p:spPr>
          <a:xfrm>
            <a:off x="411480" y="2523744"/>
            <a:ext cx="2468880" cy="0"/>
          </a:xfrm>
          <a:prstGeom prst="straightConnector1">
            <a:avLst/>
          </a:prstGeom>
          <a:noFill/>
          <a:ln cap="flat" cmpd="sng" w="9525">
            <a:solidFill>
              <a:srgbClr val="DDD8CF"/>
            </a:solidFill>
            <a:prstDash val="solid"/>
            <a:round/>
            <a:headEnd len="sm" w="sm" type="none"/>
            <a:tailEnd len="sm" w="sm" type="none"/>
          </a:ln>
        </p:spPr>
      </p:cxnSp>
      <p:sp>
        <p:nvSpPr>
          <p:cNvPr id="322" name="Google Shape;322;p12"/>
          <p:cNvSpPr/>
          <p:nvPr/>
        </p:nvSpPr>
        <p:spPr>
          <a:xfrm>
            <a:off x="411480" y="2834640"/>
            <a:ext cx="64008" cy="64008"/>
          </a:xfrm>
          <a:prstGeom prst="rect">
            <a:avLst/>
          </a:prstGeom>
          <a:solidFill>
            <a:srgbClr val="5A5A5A"/>
          </a:solidFill>
          <a:ln cap="flat" cmpd="sng" w="12700">
            <a:solidFill>
              <a:srgbClr val="5A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566928" y="2633472"/>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Cultura Blameless</a:t>
            </a:r>
            <a:endParaRPr b="0" i="0" sz="1200" u="none" cap="none" strike="noStrike">
              <a:solidFill>
                <a:schemeClr val="dk1"/>
              </a:solidFill>
              <a:latin typeface="Calibri"/>
              <a:ea typeface="Calibri"/>
              <a:cs typeface="Calibri"/>
              <a:sym typeface="Calibri"/>
            </a:endParaRPr>
          </a:p>
        </p:txBody>
      </p:sp>
      <p:sp>
        <p:nvSpPr>
          <p:cNvPr id="324" name="Google Shape;324;p12"/>
          <p:cNvSpPr/>
          <p:nvPr/>
        </p:nvSpPr>
        <p:spPr>
          <a:xfrm>
            <a:off x="411480" y="3401568"/>
            <a:ext cx="64008" cy="64008"/>
          </a:xfrm>
          <a:prstGeom prst="rect">
            <a:avLst/>
          </a:prstGeom>
          <a:solidFill>
            <a:srgbClr val="5A5A5A"/>
          </a:solidFill>
          <a:ln cap="flat" cmpd="sng" w="12700">
            <a:solidFill>
              <a:srgbClr val="5A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p:nvPr/>
        </p:nvSpPr>
        <p:spPr>
          <a:xfrm>
            <a:off x="566928" y="3200400"/>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You build it, you run it</a:t>
            </a:r>
            <a:endParaRPr b="0" i="0" sz="1200" u="none" cap="none" strike="noStrike">
              <a:solidFill>
                <a:schemeClr val="dk1"/>
              </a:solidFill>
              <a:latin typeface="Calibri"/>
              <a:ea typeface="Calibri"/>
              <a:cs typeface="Calibri"/>
              <a:sym typeface="Calibri"/>
            </a:endParaRPr>
          </a:p>
        </p:txBody>
      </p:sp>
      <p:sp>
        <p:nvSpPr>
          <p:cNvPr id="326" name="Google Shape;326;p12"/>
          <p:cNvSpPr/>
          <p:nvPr/>
        </p:nvSpPr>
        <p:spPr>
          <a:xfrm>
            <a:off x="411480" y="3968496"/>
            <a:ext cx="64008" cy="64008"/>
          </a:xfrm>
          <a:prstGeom prst="rect">
            <a:avLst/>
          </a:prstGeom>
          <a:solidFill>
            <a:srgbClr val="5A5A5A"/>
          </a:solidFill>
          <a:ln cap="flat" cmpd="sng" w="12700">
            <a:solidFill>
              <a:srgbClr val="5A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
          <p:cNvSpPr/>
          <p:nvPr/>
        </p:nvSpPr>
        <p:spPr>
          <a:xfrm>
            <a:off x="566928" y="3767328"/>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Error budgets sin blame</a:t>
            </a:r>
            <a:endParaRPr b="0" i="0" sz="1200" u="none" cap="none" strike="noStrike">
              <a:solidFill>
                <a:schemeClr val="dk1"/>
              </a:solidFill>
              <a:latin typeface="Calibri"/>
              <a:ea typeface="Calibri"/>
              <a:cs typeface="Calibri"/>
              <a:sym typeface="Calibri"/>
            </a:endParaRPr>
          </a:p>
        </p:txBody>
      </p:sp>
      <p:sp>
        <p:nvSpPr>
          <p:cNvPr id="328" name="Google Shape;328;p12"/>
          <p:cNvSpPr/>
          <p:nvPr/>
        </p:nvSpPr>
        <p:spPr>
          <a:xfrm>
            <a:off x="411480" y="4535424"/>
            <a:ext cx="64008" cy="64008"/>
          </a:xfrm>
          <a:prstGeom prst="rect">
            <a:avLst/>
          </a:prstGeom>
          <a:solidFill>
            <a:srgbClr val="5A5A5A"/>
          </a:solidFill>
          <a:ln cap="flat" cmpd="sng" w="12700">
            <a:solidFill>
              <a:srgbClr val="5A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566928" y="4334256"/>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On-call sostenible (SRE)</a:t>
            </a:r>
            <a:endParaRPr b="0" i="0" sz="1200" u="none" cap="none" strike="noStrike">
              <a:solidFill>
                <a:schemeClr val="dk1"/>
              </a:solidFill>
              <a:latin typeface="Calibri"/>
              <a:ea typeface="Calibri"/>
              <a:cs typeface="Calibri"/>
              <a:sym typeface="Calibri"/>
            </a:endParaRPr>
          </a:p>
        </p:txBody>
      </p:sp>
      <p:sp>
        <p:nvSpPr>
          <p:cNvPr id="330" name="Google Shape;330;p12"/>
          <p:cNvSpPr/>
          <p:nvPr/>
        </p:nvSpPr>
        <p:spPr>
          <a:xfrm>
            <a:off x="3154680" y="1664208"/>
            <a:ext cx="2743200" cy="320040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
          <p:cNvSpPr/>
          <p:nvPr/>
        </p:nvSpPr>
        <p:spPr>
          <a:xfrm>
            <a:off x="3154680" y="1664208"/>
            <a:ext cx="2743200" cy="45720"/>
          </a:xfrm>
          <a:prstGeom prst="rect">
            <a:avLst/>
          </a:prstGeom>
          <a:solidFill>
            <a:srgbClr val="A8D94E"/>
          </a:solidFill>
          <a:ln cap="flat" cmpd="sng" w="12700">
            <a:solidFill>
              <a:srgbClr val="A8D9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2"/>
          <p:cNvSpPr/>
          <p:nvPr/>
        </p:nvSpPr>
        <p:spPr>
          <a:xfrm>
            <a:off x="3291840" y="1737360"/>
            <a:ext cx="411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94E"/>
              </a:buClr>
              <a:buSzPts val="2000"/>
              <a:buFont typeface="Calibri"/>
              <a:buNone/>
            </a:pPr>
            <a:r>
              <a:rPr b="1" i="0" lang="en-US" sz="2000" u="none" cap="none" strike="noStrike">
                <a:solidFill>
                  <a:srgbClr val="A8D94E"/>
                </a:solidFill>
                <a:latin typeface="Calibri"/>
                <a:ea typeface="Calibri"/>
                <a:cs typeface="Calibri"/>
                <a:sym typeface="Calibri"/>
              </a:rPr>
              <a:t>02</a:t>
            </a:r>
            <a:endParaRPr b="0" i="0" sz="2000" u="none" cap="none" strike="noStrike">
              <a:solidFill>
                <a:schemeClr val="dk1"/>
              </a:solidFill>
              <a:latin typeface="Calibri"/>
              <a:ea typeface="Calibri"/>
              <a:cs typeface="Calibri"/>
              <a:sym typeface="Calibri"/>
            </a:endParaRPr>
          </a:p>
        </p:txBody>
      </p:sp>
      <p:sp>
        <p:nvSpPr>
          <p:cNvPr id="333" name="Google Shape;333;p12"/>
          <p:cNvSpPr/>
          <p:nvPr/>
        </p:nvSpPr>
        <p:spPr>
          <a:xfrm>
            <a:off x="3291840" y="2084832"/>
            <a:ext cx="24688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2000"/>
              <a:buFont typeface="Calibri"/>
              <a:buNone/>
            </a:pPr>
            <a:r>
              <a:rPr b="1" i="0" lang="en-US" sz="2000" u="none" cap="none" strike="noStrike">
                <a:solidFill>
                  <a:srgbClr val="1A1A1A"/>
                </a:solidFill>
                <a:latin typeface="Calibri"/>
                <a:ea typeface="Calibri"/>
                <a:cs typeface="Calibri"/>
                <a:sym typeface="Calibri"/>
              </a:rPr>
              <a:t>Técnica</a:t>
            </a:r>
            <a:endParaRPr b="0" i="0" sz="2000" u="none" cap="none" strike="noStrike">
              <a:solidFill>
                <a:schemeClr val="dk1"/>
              </a:solidFill>
              <a:latin typeface="Calibri"/>
              <a:ea typeface="Calibri"/>
              <a:cs typeface="Calibri"/>
              <a:sym typeface="Calibri"/>
            </a:endParaRPr>
          </a:p>
        </p:txBody>
      </p:sp>
      <p:cxnSp>
        <p:nvCxnSpPr>
          <p:cNvPr id="334" name="Google Shape;334;p12"/>
          <p:cNvCxnSpPr/>
          <p:nvPr/>
        </p:nvCxnSpPr>
        <p:spPr>
          <a:xfrm>
            <a:off x="3291840" y="2523744"/>
            <a:ext cx="2468880" cy="0"/>
          </a:xfrm>
          <a:prstGeom prst="straightConnector1">
            <a:avLst/>
          </a:prstGeom>
          <a:noFill/>
          <a:ln cap="flat" cmpd="sng" w="9525">
            <a:solidFill>
              <a:srgbClr val="DDD8CF"/>
            </a:solidFill>
            <a:prstDash val="solid"/>
            <a:round/>
            <a:headEnd len="sm" w="sm" type="none"/>
            <a:tailEnd len="sm" w="sm" type="none"/>
          </a:ln>
        </p:spPr>
      </p:cxnSp>
      <p:sp>
        <p:nvSpPr>
          <p:cNvPr id="335" name="Google Shape;335;p12"/>
          <p:cNvSpPr/>
          <p:nvPr/>
        </p:nvSpPr>
        <p:spPr>
          <a:xfrm>
            <a:off x="3291840" y="2834640"/>
            <a:ext cx="64008" cy="64008"/>
          </a:xfrm>
          <a:prstGeom prst="rect">
            <a:avLst/>
          </a:prstGeom>
          <a:solidFill>
            <a:srgbClr val="A8D94E"/>
          </a:solidFill>
          <a:ln cap="flat" cmpd="sng" w="12700">
            <a:solidFill>
              <a:srgbClr val="A8D9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2"/>
          <p:cNvSpPr/>
          <p:nvPr/>
        </p:nvSpPr>
        <p:spPr>
          <a:xfrm>
            <a:off x="3447288" y="2633472"/>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12-Factor Apps</a:t>
            </a:r>
            <a:endParaRPr b="0" i="0" sz="1200" u="none" cap="none" strike="noStrike">
              <a:solidFill>
                <a:schemeClr val="dk1"/>
              </a:solidFill>
              <a:latin typeface="Calibri"/>
              <a:ea typeface="Calibri"/>
              <a:cs typeface="Calibri"/>
              <a:sym typeface="Calibri"/>
            </a:endParaRPr>
          </a:p>
        </p:txBody>
      </p:sp>
      <p:sp>
        <p:nvSpPr>
          <p:cNvPr id="337" name="Google Shape;337;p12"/>
          <p:cNvSpPr/>
          <p:nvPr/>
        </p:nvSpPr>
        <p:spPr>
          <a:xfrm>
            <a:off x="3291840" y="3401568"/>
            <a:ext cx="64008" cy="64008"/>
          </a:xfrm>
          <a:prstGeom prst="rect">
            <a:avLst/>
          </a:prstGeom>
          <a:solidFill>
            <a:srgbClr val="A8D94E"/>
          </a:solidFill>
          <a:ln cap="flat" cmpd="sng" w="12700">
            <a:solidFill>
              <a:srgbClr val="A8D9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3447288" y="3200400"/>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CI/CD con carbon gates</a:t>
            </a:r>
            <a:endParaRPr b="0" i="0" sz="1200" u="none" cap="none" strike="noStrike">
              <a:solidFill>
                <a:schemeClr val="dk1"/>
              </a:solidFill>
              <a:latin typeface="Calibri"/>
              <a:ea typeface="Calibri"/>
              <a:cs typeface="Calibri"/>
              <a:sym typeface="Calibri"/>
            </a:endParaRPr>
          </a:p>
        </p:txBody>
      </p:sp>
      <p:sp>
        <p:nvSpPr>
          <p:cNvPr id="339" name="Google Shape;339;p12"/>
          <p:cNvSpPr/>
          <p:nvPr/>
        </p:nvSpPr>
        <p:spPr>
          <a:xfrm>
            <a:off x="3291840" y="3968496"/>
            <a:ext cx="64008" cy="64008"/>
          </a:xfrm>
          <a:prstGeom prst="rect">
            <a:avLst/>
          </a:prstGeom>
          <a:solidFill>
            <a:srgbClr val="A8D94E"/>
          </a:solidFill>
          <a:ln cap="flat" cmpd="sng" w="12700">
            <a:solidFill>
              <a:srgbClr val="A8D9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
          <p:cNvSpPr/>
          <p:nvPr/>
        </p:nvSpPr>
        <p:spPr>
          <a:xfrm>
            <a:off x="3447288" y="3767328"/>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Observabilidad total</a:t>
            </a:r>
            <a:endParaRPr b="0" i="0" sz="1200" u="none" cap="none" strike="noStrike">
              <a:solidFill>
                <a:schemeClr val="dk1"/>
              </a:solidFill>
              <a:latin typeface="Calibri"/>
              <a:ea typeface="Calibri"/>
              <a:cs typeface="Calibri"/>
              <a:sym typeface="Calibri"/>
            </a:endParaRPr>
          </a:p>
        </p:txBody>
      </p:sp>
      <p:sp>
        <p:nvSpPr>
          <p:cNvPr id="341" name="Google Shape;341;p12"/>
          <p:cNvSpPr/>
          <p:nvPr/>
        </p:nvSpPr>
        <p:spPr>
          <a:xfrm>
            <a:off x="3291840" y="4535424"/>
            <a:ext cx="64008" cy="64008"/>
          </a:xfrm>
          <a:prstGeom prst="rect">
            <a:avLst/>
          </a:prstGeom>
          <a:solidFill>
            <a:srgbClr val="A8D94E"/>
          </a:solidFill>
          <a:ln cap="flat" cmpd="sng" w="12700">
            <a:solidFill>
              <a:srgbClr val="A8D9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p:nvPr/>
        </p:nvSpPr>
        <p:spPr>
          <a:xfrm>
            <a:off x="3447288" y="4334256"/>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20% tiempo en refactoring</a:t>
            </a:r>
            <a:endParaRPr b="0" i="0" sz="1200" u="none" cap="none" strike="noStrike">
              <a:solidFill>
                <a:schemeClr val="dk1"/>
              </a:solidFill>
              <a:latin typeface="Calibri"/>
              <a:ea typeface="Calibri"/>
              <a:cs typeface="Calibri"/>
              <a:sym typeface="Calibri"/>
            </a:endParaRPr>
          </a:p>
        </p:txBody>
      </p:sp>
      <p:sp>
        <p:nvSpPr>
          <p:cNvPr id="343" name="Google Shape;343;p12"/>
          <p:cNvSpPr/>
          <p:nvPr/>
        </p:nvSpPr>
        <p:spPr>
          <a:xfrm>
            <a:off x="6035040" y="1664208"/>
            <a:ext cx="2743200" cy="320040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6035040" y="1664208"/>
            <a:ext cx="2743200" cy="45720"/>
          </a:xfrm>
          <a:prstGeom prst="rect">
            <a:avLst/>
          </a:prstGeom>
          <a:solidFill>
            <a:srgbClr val="5A5A5A"/>
          </a:solidFill>
          <a:ln cap="flat" cmpd="sng" w="12700">
            <a:solidFill>
              <a:srgbClr val="5A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p:nvPr/>
        </p:nvSpPr>
        <p:spPr>
          <a:xfrm>
            <a:off x="6172200" y="1737360"/>
            <a:ext cx="411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2000"/>
              <a:buFont typeface="Calibri"/>
              <a:buNone/>
            </a:pPr>
            <a:r>
              <a:rPr b="1" i="0" lang="en-US" sz="2000" u="none" cap="none" strike="noStrike">
                <a:solidFill>
                  <a:srgbClr val="5A5A5A"/>
                </a:solidFill>
                <a:latin typeface="Calibri"/>
                <a:ea typeface="Calibri"/>
                <a:cs typeface="Calibri"/>
                <a:sym typeface="Calibri"/>
              </a:rPr>
              <a:t>03</a:t>
            </a:r>
            <a:endParaRPr b="0" i="0" sz="2000" u="none" cap="none" strike="noStrike">
              <a:solidFill>
                <a:schemeClr val="dk1"/>
              </a:solidFill>
              <a:latin typeface="Calibri"/>
              <a:ea typeface="Calibri"/>
              <a:cs typeface="Calibri"/>
              <a:sym typeface="Calibri"/>
            </a:endParaRPr>
          </a:p>
        </p:txBody>
      </p:sp>
      <p:sp>
        <p:nvSpPr>
          <p:cNvPr id="346" name="Google Shape;346;p12"/>
          <p:cNvSpPr/>
          <p:nvPr/>
        </p:nvSpPr>
        <p:spPr>
          <a:xfrm>
            <a:off x="6172200" y="2084832"/>
            <a:ext cx="24688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2000"/>
              <a:buFont typeface="Calibri"/>
              <a:buNone/>
            </a:pPr>
            <a:r>
              <a:rPr b="1" i="0" lang="en-US" sz="2000" u="none" cap="none" strike="noStrike">
                <a:solidFill>
                  <a:srgbClr val="1A1A1A"/>
                </a:solidFill>
                <a:latin typeface="Calibri"/>
                <a:ea typeface="Calibri"/>
                <a:cs typeface="Calibri"/>
                <a:sym typeface="Calibri"/>
              </a:rPr>
              <a:t>Económica</a:t>
            </a:r>
            <a:endParaRPr b="0" i="0" sz="2000" u="none" cap="none" strike="noStrike">
              <a:solidFill>
                <a:schemeClr val="dk1"/>
              </a:solidFill>
              <a:latin typeface="Calibri"/>
              <a:ea typeface="Calibri"/>
              <a:cs typeface="Calibri"/>
              <a:sym typeface="Calibri"/>
            </a:endParaRPr>
          </a:p>
        </p:txBody>
      </p:sp>
      <p:cxnSp>
        <p:nvCxnSpPr>
          <p:cNvPr id="347" name="Google Shape;347;p12"/>
          <p:cNvCxnSpPr/>
          <p:nvPr/>
        </p:nvCxnSpPr>
        <p:spPr>
          <a:xfrm>
            <a:off x="6172200" y="2523744"/>
            <a:ext cx="2468880" cy="0"/>
          </a:xfrm>
          <a:prstGeom prst="straightConnector1">
            <a:avLst/>
          </a:prstGeom>
          <a:noFill/>
          <a:ln cap="flat" cmpd="sng" w="9525">
            <a:solidFill>
              <a:srgbClr val="DDD8CF"/>
            </a:solidFill>
            <a:prstDash val="solid"/>
            <a:round/>
            <a:headEnd len="sm" w="sm" type="none"/>
            <a:tailEnd len="sm" w="sm" type="none"/>
          </a:ln>
        </p:spPr>
      </p:cxnSp>
      <p:sp>
        <p:nvSpPr>
          <p:cNvPr id="348" name="Google Shape;348;p12"/>
          <p:cNvSpPr/>
          <p:nvPr/>
        </p:nvSpPr>
        <p:spPr>
          <a:xfrm>
            <a:off x="6172200" y="2834640"/>
            <a:ext cx="64008" cy="64008"/>
          </a:xfrm>
          <a:prstGeom prst="rect">
            <a:avLst/>
          </a:prstGeom>
          <a:solidFill>
            <a:srgbClr val="5A5A5A"/>
          </a:solidFill>
          <a:ln cap="flat" cmpd="sng" w="12700">
            <a:solidFill>
              <a:srgbClr val="5A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6327648" y="2633472"/>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FinOps + GreenOps unificados</a:t>
            </a:r>
            <a:endParaRPr b="0" i="0" sz="1200" u="none" cap="none" strike="noStrike">
              <a:solidFill>
                <a:schemeClr val="dk1"/>
              </a:solidFill>
              <a:latin typeface="Calibri"/>
              <a:ea typeface="Calibri"/>
              <a:cs typeface="Calibri"/>
              <a:sym typeface="Calibri"/>
            </a:endParaRPr>
          </a:p>
        </p:txBody>
      </p:sp>
      <p:sp>
        <p:nvSpPr>
          <p:cNvPr id="350" name="Google Shape;350;p12"/>
          <p:cNvSpPr/>
          <p:nvPr/>
        </p:nvSpPr>
        <p:spPr>
          <a:xfrm>
            <a:off x="6172200" y="3401568"/>
            <a:ext cx="64008" cy="64008"/>
          </a:xfrm>
          <a:prstGeom prst="rect">
            <a:avLst/>
          </a:prstGeom>
          <a:solidFill>
            <a:srgbClr val="5A5A5A"/>
          </a:solidFill>
          <a:ln cap="flat" cmpd="sng" w="12700">
            <a:solidFill>
              <a:srgbClr val="5A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2"/>
          <p:cNvSpPr/>
          <p:nvPr/>
        </p:nvSpPr>
        <p:spPr>
          <a:xfrm>
            <a:off x="6327648" y="3200400"/>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SCI como KPI de producto</a:t>
            </a:r>
            <a:endParaRPr b="0" i="0" sz="1200" u="none" cap="none" strike="noStrike">
              <a:solidFill>
                <a:schemeClr val="dk1"/>
              </a:solidFill>
              <a:latin typeface="Calibri"/>
              <a:ea typeface="Calibri"/>
              <a:cs typeface="Calibri"/>
              <a:sym typeface="Calibri"/>
            </a:endParaRPr>
          </a:p>
        </p:txBody>
      </p:sp>
      <p:sp>
        <p:nvSpPr>
          <p:cNvPr id="352" name="Google Shape;352;p12"/>
          <p:cNvSpPr/>
          <p:nvPr/>
        </p:nvSpPr>
        <p:spPr>
          <a:xfrm>
            <a:off x="6172200" y="3968496"/>
            <a:ext cx="64008" cy="64008"/>
          </a:xfrm>
          <a:prstGeom prst="rect">
            <a:avLst/>
          </a:prstGeom>
          <a:solidFill>
            <a:srgbClr val="5A5A5A"/>
          </a:solidFill>
          <a:ln cap="flat" cmpd="sng" w="12700">
            <a:solidFill>
              <a:srgbClr val="5A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6327648" y="3767328"/>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DORA Metrics como brújula</a:t>
            </a:r>
            <a:endParaRPr b="0" i="0" sz="1200" u="none" cap="none" strike="noStrike">
              <a:solidFill>
                <a:schemeClr val="dk1"/>
              </a:solidFill>
              <a:latin typeface="Calibri"/>
              <a:ea typeface="Calibri"/>
              <a:cs typeface="Calibri"/>
              <a:sym typeface="Calibri"/>
            </a:endParaRPr>
          </a:p>
        </p:txBody>
      </p:sp>
      <p:sp>
        <p:nvSpPr>
          <p:cNvPr id="354" name="Google Shape;354;p12"/>
          <p:cNvSpPr/>
          <p:nvPr/>
        </p:nvSpPr>
        <p:spPr>
          <a:xfrm>
            <a:off x="6172200" y="4535424"/>
            <a:ext cx="64008" cy="64008"/>
          </a:xfrm>
          <a:prstGeom prst="rect">
            <a:avLst/>
          </a:prstGeom>
          <a:solidFill>
            <a:srgbClr val="5A5A5A"/>
          </a:solidFill>
          <a:ln cap="flat" cmpd="sng" w="12700">
            <a:solidFill>
              <a:srgbClr val="5A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6327648" y="4334256"/>
            <a:ext cx="228600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Platform Engineering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60" name="Shape 360"/>
        <p:cNvGrpSpPr/>
        <p:nvPr/>
      </p:nvGrpSpPr>
      <p:grpSpPr>
        <a:xfrm>
          <a:off x="0" y="0"/>
          <a:ext cx="0" cy="0"/>
          <a:chOff x="0" y="0"/>
          <a:chExt cx="0" cy="0"/>
        </a:xfrm>
      </p:grpSpPr>
      <p:cxnSp>
        <p:nvCxnSpPr>
          <p:cNvPr id="361" name="Google Shape;361;p13"/>
          <p:cNvCxnSpPr/>
          <p:nvPr/>
        </p:nvCxnSpPr>
        <p:spPr>
          <a:xfrm>
            <a:off x="457200" y="475488"/>
            <a:ext cx="8229600" cy="0"/>
          </a:xfrm>
          <a:prstGeom prst="straightConnector1">
            <a:avLst/>
          </a:prstGeom>
          <a:noFill/>
          <a:ln cap="flat" cmpd="sng" w="12700">
            <a:solidFill>
              <a:srgbClr val="BEF264"/>
            </a:solidFill>
            <a:prstDash val="solid"/>
            <a:round/>
            <a:headEnd len="sm" w="sm" type="none"/>
            <a:tailEnd len="sm" w="sm" type="none"/>
          </a:ln>
        </p:spPr>
      </p:cxnSp>
      <p:sp>
        <p:nvSpPr>
          <p:cNvPr id="362" name="Google Shape;362;p13"/>
          <p:cNvSpPr/>
          <p:nvPr/>
        </p:nvSpPr>
        <p:spPr>
          <a:xfrm>
            <a:off x="457200" y="18288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900"/>
              <a:buFont typeface="Calibri"/>
              <a:buNone/>
            </a:pPr>
            <a:r>
              <a:rPr b="1" i="0" lang="en-US" sz="900" u="none" cap="none" strike="noStrike">
                <a:solidFill>
                  <a:srgbClr val="BEF264"/>
                </a:solidFill>
                <a:latin typeface="Calibri"/>
                <a:ea typeface="Calibri"/>
                <a:cs typeface="Calibri"/>
                <a:sym typeface="Calibri"/>
              </a:rPr>
              <a:t>HORIZONTE 2026</a:t>
            </a:r>
            <a:endParaRPr b="0" i="0" sz="900" u="none" cap="none" strike="noStrike">
              <a:solidFill>
                <a:schemeClr val="dk1"/>
              </a:solidFill>
              <a:latin typeface="Calibri"/>
              <a:ea typeface="Calibri"/>
              <a:cs typeface="Calibri"/>
              <a:sym typeface="Calibri"/>
            </a:endParaRPr>
          </a:p>
        </p:txBody>
      </p:sp>
      <p:sp>
        <p:nvSpPr>
          <p:cNvPr id="363" name="Google Shape;363;p13"/>
          <p:cNvSpPr/>
          <p:nvPr/>
        </p:nvSpPr>
        <p:spPr>
          <a:xfrm>
            <a:off x="457200" y="594360"/>
            <a:ext cx="8229600" cy="6217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La Era de las Plataformas Inteligentes</a:t>
            </a:r>
            <a:endParaRPr b="0" i="0" sz="3200" u="none" cap="none" strike="noStrike">
              <a:solidFill>
                <a:schemeClr val="dk1"/>
              </a:solidFill>
              <a:latin typeface="Calibri"/>
              <a:ea typeface="Calibri"/>
              <a:cs typeface="Calibri"/>
              <a:sym typeface="Calibri"/>
            </a:endParaRPr>
          </a:p>
        </p:txBody>
      </p:sp>
      <p:sp>
        <p:nvSpPr>
          <p:cNvPr id="364" name="Google Shape;364;p13"/>
          <p:cNvSpPr/>
          <p:nvPr/>
        </p:nvSpPr>
        <p:spPr>
          <a:xfrm>
            <a:off x="365760" y="1389888"/>
            <a:ext cx="5486400" cy="73152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a:off x="365760" y="1389888"/>
            <a:ext cx="45720" cy="7315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530352" y="1444752"/>
            <a:ext cx="51206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300"/>
              <a:buFont typeface="Calibri"/>
              <a:buNone/>
            </a:pPr>
            <a:r>
              <a:rPr b="1" i="0" lang="en-US" sz="1300" u="none" cap="none" strike="noStrike">
                <a:solidFill>
                  <a:srgbClr val="BEF264"/>
                </a:solidFill>
                <a:latin typeface="Calibri"/>
                <a:ea typeface="Calibri"/>
                <a:cs typeface="Calibri"/>
                <a:sym typeface="Calibri"/>
              </a:rPr>
              <a:t>Platform Engineering</a:t>
            </a:r>
            <a:endParaRPr b="0" i="0" sz="1300" u="none" cap="none" strike="noStrike">
              <a:solidFill>
                <a:schemeClr val="dk1"/>
              </a:solidFill>
              <a:latin typeface="Calibri"/>
              <a:ea typeface="Calibri"/>
              <a:cs typeface="Calibri"/>
              <a:sym typeface="Calibri"/>
            </a:endParaRPr>
          </a:p>
        </p:txBody>
      </p:sp>
      <p:sp>
        <p:nvSpPr>
          <p:cNvPr id="367" name="Google Shape;367;p13"/>
          <p:cNvSpPr/>
          <p:nvPr/>
        </p:nvSpPr>
        <p:spPr>
          <a:xfrm>
            <a:off x="530352" y="1700784"/>
            <a:ext cx="51206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050"/>
              <a:buFont typeface="Calibri"/>
              <a:buNone/>
            </a:pPr>
            <a:r>
              <a:rPr b="0" i="0" lang="en-US" sz="1050" u="none" cap="none" strike="noStrike">
                <a:solidFill>
                  <a:srgbClr val="F0EBE2"/>
                </a:solidFill>
                <a:latin typeface="Calibri"/>
                <a:ea typeface="Calibri"/>
                <a:cs typeface="Calibri"/>
                <a:sym typeface="Calibri"/>
              </a:rPr>
              <a:t>Golden Paths + Internal Developer Platform. Los devs crean valor, no pelean con infra. Gartner: 80% de orgs con IDP para 2026.</a:t>
            </a:r>
            <a:endParaRPr b="0" i="0" sz="1050" u="none" cap="none" strike="noStrike">
              <a:solidFill>
                <a:schemeClr val="dk1"/>
              </a:solidFill>
              <a:latin typeface="Calibri"/>
              <a:ea typeface="Calibri"/>
              <a:cs typeface="Calibri"/>
              <a:sym typeface="Calibri"/>
            </a:endParaRPr>
          </a:p>
        </p:txBody>
      </p:sp>
      <p:sp>
        <p:nvSpPr>
          <p:cNvPr id="368" name="Google Shape;368;p13"/>
          <p:cNvSpPr/>
          <p:nvPr/>
        </p:nvSpPr>
        <p:spPr>
          <a:xfrm>
            <a:off x="365760" y="2231136"/>
            <a:ext cx="5486400" cy="73152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3"/>
          <p:cNvSpPr/>
          <p:nvPr/>
        </p:nvSpPr>
        <p:spPr>
          <a:xfrm>
            <a:off x="365760" y="2231136"/>
            <a:ext cx="45720" cy="7315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3"/>
          <p:cNvSpPr/>
          <p:nvPr/>
        </p:nvSpPr>
        <p:spPr>
          <a:xfrm>
            <a:off x="530352" y="2286000"/>
            <a:ext cx="51206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300"/>
              <a:buFont typeface="Calibri"/>
              <a:buNone/>
            </a:pPr>
            <a:r>
              <a:rPr b="1" i="0" lang="en-US" sz="1300" u="none" cap="none" strike="noStrike">
                <a:solidFill>
                  <a:srgbClr val="BEF264"/>
                </a:solidFill>
                <a:latin typeface="Calibri"/>
                <a:ea typeface="Calibri"/>
                <a:cs typeface="Calibri"/>
                <a:sym typeface="Calibri"/>
              </a:rPr>
              <a:t>AI-Native DevOps</a:t>
            </a:r>
            <a:endParaRPr b="0" i="0" sz="1300" u="none" cap="none" strike="noStrike">
              <a:solidFill>
                <a:schemeClr val="dk1"/>
              </a:solidFill>
              <a:latin typeface="Calibri"/>
              <a:ea typeface="Calibri"/>
              <a:cs typeface="Calibri"/>
              <a:sym typeface="Calibri"/>
            </a:endParaRPr>
          </a:p>
        </p:txBody>
      </p:sp>
      <p:sp>
        <p:nvSpPr>
          <p:cNvPr id="371" name="Google Shape;371;p13"/>
          <p:cNvSpPr/>
          <p:nvPr/>
        </p:nvSpPr>
        <p:spPr>
          <a:xfrm>
            <a:off x="530352" y="2542032"/>
            <a:ext cx="51206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050"/>
              <a:buFont typeface="Calibri"/>
              <a:buNone/>
            </a:pPr>
            <a:r>
              <a:rPr b="0" i="0" lang="en-US" sz="1050" u="none" cap="none" strike="noStrike">
                <a:solidFill>
                  <a:srgbClr val="F0EBE2"/>
                </a:solidFill>
                <a:latin typeface="Calibri"/>
                <a:ea typeface="Calibri"/>
                <a:cs typeface="Calibri"/>
                <a:sym typeface="Calibri"/>
              </a:rPr>
              <a:t>Agentes co-pilotan CI/CD: desde PR hasta incident response. State of DevOps 2025: −40% MTTR con AI-assisted ops.</a:t>
            </a:r>
            <a:endParaRPr b="0" i="0" sz="1050" u="none" cap="none" strike="noStrike">
              <a:solidFill>
                <a:schemeClr val="dk1"/>
              </a:solidFill>
              <a:latin typeface="Calibri"/>
              <a:ea typeface="Calibri"/>
              <a:cs typeface="Calibri"/>
              <a:sym typeface="Calibri"/>
            </a:endParaRPr>
          </a:p>
        </p:txBody>
      </p:sp>
      <p:sp>
        <p:nvSpPr>
          <p:cNvPr id="372" name="Google Shape;372;p13"/>
          <p:cNvSpPr/>
          <p:nvPr/>
        </p:nvSpPr>
        <p:spPr>
          <a:xfrm>
            <a:off x="365760" y="3072384"/>
            <a:ext cx="5486400" cy="73152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3"/>
          <p:cNvSpPr/>
          <p:nvPr/>
        </p:nvSpPr>
        <p:spPr>
          <a:xfrm>
            <a:off x="365760" y="3072384"/>
            <a:ext cx="45720" cy="7315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530352" y="3127248"/>
            <a:ext cx="51206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300"/>
              <a:buFont typeface="Calibri"/>
              <a:buNone/>
            </a:pPr>
            <a:r>
              <a:rPr b="1" i="0" lang="en-US" sz="1300" u="none" cap="none" strike="noStrike">
                <a:solidFill>
                  <a:srgbClr val="BEF264"/>
                </a:solidFill>
                <a:latin typeface="Calibri"/>
                <a:ea typeface="Calibri"/>
                <a:cs typeface="Calibri"/>
                <a:sym typeface="Calibri"/>
              </a:rPr>
              <a:t>FinOps ↔ GreenOps</a:t>
            </a:r>
            <a:endParaRPr b="0" i="0" sz="1300" u="none" cap="none" strike="noStrike">
              <a:solidFill>
                <a:schemeClr val="dk1"/>
              </a:solidFill>
              <a:latin typeface="Calibri"/>
              <a:ea typeface="Calibri"/>
              <a:cs typeface="Calibri"/>
              <a:sym typeface="Calibri"/>
            </a:endParaRPr>
          </a:p>
        </p:txBody>
      </p:sp>
      <p:sp>
        <p:nvSpPr>
          <p:cNvPr id="375" name="Google Shape;375;p13"/>
          <p:cNvSpPr/>
          <p:nvPr/>
        </p:nvSpPr>
        <p:spPr>
          <a:xfrm>
            <a:off x="530352" y="3383280"/>
            <a:ext cx="51206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050"/>
              <a:buFont typeface="Calibri"/>
              <a:buNone/>
            </a:pPr>
            <a:r>
              <a:rPr b="0" i="0" lang="en-US" sz="1050" u="none" cap="none" strike="noStrike">
                <a:solidFill>
                  <a:srgbClr val="F0EBE2"/>
                </a:solidFill>
                <a:latin typeface="Calibri"/>
                <a:ea typeface="Calibri"/>
                <a:cs typeface="Calibri"/>
                <a:sym typeface="Calibri"/>
              </a:rPr>
              <a:t>Convergencia: un solo dashboard de costo + carbono. El costo ya no es solo dinero; es energía, es toneladas de CO₂.</a:t>
            </a:r>
            <a:endParaRPr b="0" i="0" sz="1050" u="none" cap="none" strike="noStrike">
              <a:solidFill>
                <a:schemeClr val="dk1"/>
              </a:solidFill>
              <a:latin typeface="Calibri"/>
              <a:ea typeface="Calibri"/>
              <a:cs typeface="Calibri"/>
              <a:sym typeface="Calibri"/>
            </a:endParaRPr>
          </a:p>
        </p:txBody>
      </p:sp>
      <p:sp>
        <p:nvSpPr>
          <p:cNvPr id="376" name="Google Shape;376;p13"/>
          <p:cNvSpPr/>
          <p:nvPr/>
        </p:nvSpPr>
        <p:spPr>
          <a:xfrm>
            <a:off x="365760" y="3913632"/>
            <a:ext cx="5486400" cy="731520"/>
          </a:xfrm>
          <a:prstGeom prst="rect">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3"/>
          <p:cNvSpPr/>
          <p:nvPr/>
        </p:nvSpPr>
        <p:spPr>
          <a:xfrm>
            <a:off x="365760" y="3913632"/>
            <a:ext cx="45720" cy="731520"/>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3"/>
          <p:cNvSpPr/>
          <p:nvPr/>
        </p:nvSpPr>
        <p:spPr>
          <a:xfrm>
            <a:off x="530352" y="3968496"/>
            <a:ext cx="51206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1300"/>
              <a:buFont typeface="Calibri"/>
              <a:buNone/>
            </a:pPr>
            <a:r>
              <a:rPr b="1" i="0" lang="en-US" sz="1300" u="none" cap="none" strike="noStrike">
                <a:solidFill>
                  <a:srgbClr val="BEF264"/>
                </a:solidFill>
                <a:latin typeface="Calibri"/>
                <a:ea typeface="Calibri"/>
                <a:cs typeface="Calibri"/>
                <a:sym typeface="Calibri"/>
              </a:rPr>
              <a:t>MCP: Infra as Prompt</a:t>
            </a:r>
            <a:endParaRPr b="0" i="0" sz="1300" u="none" cap="none" strike="noStrike">
              <a:solidFill>
                <a:schemeClr val="dk1"/>
              </a:solidFill>
              <a:latin typeface="Calibri"/>
              <a:ea typeface="Calibri"/>
              <a:cs typeface="Calibri"/>
              <a:sym typeface="Calibri"/>
            </a:endParaRPr>
          </a:p>
        </p:txBody>
      </p:sp>
      <p:sp>
        <p:nvSpPr>
          <p:cNvPr id="379" name="Google Shape;379;p13"/>
          <p:cNvSpPr/>
          <p:nvPr/>
        </p:nvSpPr>
        <p:spPr>
          <a:xfrm>
            <a:off x="530352" y="4224528"/>
            <a:ext cx="51206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050"/>
              <a:buFont typeface="Calibri"/>
              <a:buNone/>
            </a:pPr>
            <a:r>
              <a:rPr b="0" i="0" lang="en-US" sz="1050" u="none" cap="none" strike="noStrike">
                <a:solidFill>
                  <a:srgbClr val="F0EBE2"/>
                </a:solidFill>
                <a:latin typeface="Calibri"/>
                <a:ea typeface="Calibri"/>
                <a:cs typeface="Calibri"/>
                <a:sym typeface="Calibri"/>
              </a:rPr>
              <a:t>Model Context Protocol (Anthropic, 2024). Agentes orquestan K8s, Terraform, observabilidad con guardrails humanos.</a:t>
            </a:r>
            <a:endParaRPr b="0" i="0" sz="1050" u="none" cap="none" strike="noStrike">
              <a:solidFill>
                <a:schemeClr val="dk1"/>
              </a:solidFill>
              <a:latin typeface="Calibri"/>
              <a:ea typeface="Calibri"/>
              <a:cs typeface="Calibri"/>
              <a:sym typeface="Calibri"/>
            </a:endParaRPr>
          </a:p>
        </p:txBody>
      </p:sp>
      <p:sp>
        <p:nvSpPr>
          <p:cNvPr id="380" name="Google Shape;380;p13"/>
          <p:cNvSpPr/>
          <p:nvPr/>
        </p:nvSpPr>
        <p:spPr>
          <a:xfrm>
            <a:off x="6126480" y="1389888"/>
            <a:ext cx="274320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900"/>
              <a:buFont typeface="Calibri"/>
              <a:buNone/>
            </a:pPr>
            <a:r>
              <a:rPr b="1" i="0" lang="en-US" sz="900" u="none" cap="none" strike="noStrike">
                <a:solidFill>
                  <a:srgbClr val="7A7A7A"/>
                </a:solidFill>
                <a:latin typeface="Calibri"/>
                <a:ea typeface="Calibri"/>
                <a:cs typeface="Calibri"/>
                <a:sym typeface="Calibri"/>
              </a:rPr>
              <a:t>DORA 2025</a:t>
            </a:r>
            <a:endParaRPr b="0" i="0" sz="900" u="none" cap="none" strike="noStrike">
              <a:solidFill>
                <a:schemeClr val="dk1"/>
              </a:solidFill>
              <a:latin typeface="Calibri"/>
              <a:ea typeface="Calibri"/>
              <a:cs typeface="Calibri"/>
              <a:sym typeface="Calibri"/>
            </a:endParaRPr>
          </a:p>
        </p:txBody>
      </p:sp>
      <p:sp>
        <p:nvSpPr>
          <p:cNvPr id="381" name="Google Shape;381;p13"/>
          <p:cNvSpPr/>
          <p:nvPr/>
        </p:nvSpPr>
        <p:spPr>
          <a:xfrm>
            <a:off x="6126480" y="1755648"/>
            <a:ext cx="2743200" cy="932688"/>
          </a:xfrm>
          <a:prstGeom prst="rect">
            <a:avLst/>
          </a:prstGeom>
          <a:solidFill>
            <a:srgbClr val="1E1E1E"/>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3"/>
          <p:cNvSpPr/>
          <p:nvPr/>
        </p:nvSpPr>
        <p:spPr>
          <a:xfrm>
            <a:off x="6126480" y="1810512"/>
            <a:ext cx="27432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EF264"/>
              </a:buClr>
              <a:buSzPts val="4200"/>
              <a:buFont typeface="Calibri"/>
              <a:buNone/>
            </a:pPr>
            <a:r>
              <a:rPr b="1" i="0" lang="en-US" sz="4200" u="none" cap="none" strike="noStrike">
                <a:solidFill>
                  <a:srgbClr val="BEF264"/>
                </a:solidFill>
                <a:latin typeface="Calibri"/>
                <a:ea typeface="Calibri"/>
                <a:cs typeface="Calibri"/>
                <a:sym typeface="Calibri"/>
              </a:rPr>
              <a:t>4×</a:t>
            </a:r>
            <a:endParaRPr b="0" i="0" sz="4200" u="none" cap="none" strike="noStrike">
              <a:solidFill>
                <a:schemeClr val="dk1"/>
              </a:solidFill>
              <a:latin typeface="Calibri"/>
              <a:ea typeface="Calibri"/>
              <a:cs typeface="Calibri"/>
              <a:sym typeface="Calibri"/>
            </a:endParaRPr>
          </a:p>
        </p:txBody>
      </p:sp>
      <p:sp>
        <p:nvSpPr>
          <p:cNvPr id="383" name="Google Shape;383;p13"/>
          <p:cNvSpPr/>
          <p:nvPr/>
        </p:nvSpPr>
        <p:spPr>
          <a:xfrm>
            <a:off x="6126480" y="2304288"/>
            <a:ext cx="274320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más despliegues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elite vs low performer</a:t>
            </a:r>
            <a:endParaRPr b="0" i="0" sz="1000" u="none" cap="none" strike="noStrike">
              <a:solidFill>
                <a:schemeClr val="dk1"/>
              </a:solidFill>
              <a:latin typeface="Calibri"/>
              <a:ea typeface="Calibri"/>
              <a:cs typeface="Calibri"/>
              <a:sym typeface="Calibri"/>
            </a:endParaRPr>
          </a:p>
        </p:txBody>
      </p:sp>
      <p:sp>
        <p:nvSpPr>
          <p:cNvPr id="384" name="Google Shape;384;p13"/>
          <p:cNvSpPr/>
          <p:nvPr/>
        </p:nvSpPr>
        <p:spPr>
          <a:xfrm>
            <a:off x="6126480" y="2834640"/>
            <a:ext cx="2743200" cy="932688"/>
          </a:xfrm>
          <a:prstGeom prst="rect">
            <a:avLst/>
          </a:prstGeom>
          <a:solidFill>
            <a:srgbClr val="1E1E1E"/>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6126480" y="2889504"/>
            <a:ext cx="27432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EF264"/>
              </a:buClr>
              <a:buSzPts val="4200"/>
              <a:buFont typeface="Calibri"/>
              <a:buNone/>
            </a:pPr>
            <a:r>
              <a:rPr b="1" i="0" lang="en-US" sz="4200" u="none" cap="none" strike="noStrike">
                <a:solidFill>
                  <a:srgbClr val="BEF264"/>
                </a:solidFill>
                <a:latin typeface="Calibri"/>
                <a:ea typeface="Calibri"/>
                <a:cs typeface="Calibri"/>
                <a:sym typeface="Calibri"/>
              </a:rPr>
              <a:t>24h</a:t>
            </a:r>
            <a:endParaRPr b="0" i="0" sz="4200" u="none" cap="none" strike="noStrike">
              <a:solidFill>
                <a:schemeClr val="dk1"/>
              </a:solidFill>
              <a:latin typeface="Calibri"/>
              <a:ea typeface="Calibri"/>
              <a:cs typeface="Calibri"/>
              <a:sym typeface="Calibri"/>
            </a:endParaRPr>
          </a:p>
        </p:txBody>
      </p:sp>
      <p:sp>
        <p:nvSpPr>
          <p:cNvPr id="386" name="Google Shape;386;p13"/>
          <p:cNvSpPr/>
          <p:nvPr/>
        </p:nvSpPr>
        <p:spPr>
          <a:xfrm>
            <a:off x="6126480" y="3383280"/>
            <a:ext cx="274320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lead time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elite performers</a:t>
            </a:r>
            <a:endParaRPr b="0" i="0" sz="1000" u="none" cap="none" strike="noStrike">
              <a:solidFill>
                <a:schemeClr val="dk1"/>
              </a:solidFill>
              <a:latin typeface="Calibri"/>
              <a:ea typeface="Calibri"/>
              <a:cs typeface="Calibri"/>
              <a:sym typeface="Calibri"/>
            </a:endParaRPr>
          </a:p>
        </p:txBody>
      </p:sp>
      <p:sp>
        <p:nvSpPr>
          <p:cNvPr id="387" name="Google Shape;387;p13"/>
          <p:cNvSpPr/>
          <p:nvPr/>
        </p:nvSpPr>
        <p:spPr>
          <a:xfrm>
            <a:off x="6126480" y="3913632"/>
            <a:ext cx="2743200" cy="932688"/>
          </a:xfrm>
          <a:prstGeom prst="rect">
            <a:avLst/>
          </a:prstGeom>
          <a:solidFill>
            <a:srgbClr val="1E1E1E"/>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3"/>
          <p:cNvSpPr/>
          <p:nvPr/>
        </p:nvSpPr>
        <p:spPr>
          <a:xfrm>
            <a:off x="6126480" y="3968496"/>
            <a:ext cx="27432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EF264"/>
              </a:buClr>
              <a:buSzPts val="4200"/>
              <a:buFont typeface="Calibri"/>
              <a:buNone/>
            </a:pPr>
            <a:r>
              <a:rPr b="1" i="0" lang="en-US" sz="4200" u="none" cap="none" strike="noStrike">
                <a:solidFill>
                  <a:srgbClr val="BEF264"/>
                </a:solidFill>
                <a:latin typeface="Calibri"/>
                <a:ea typeface="Calibri"/>
                <a:cs typeface="Calibri"/>
                <a:sym typeface="Calibri"/>
              </a:rPr>
              <a:t>&lt;1h</a:t>
            </a:r>
            <a:endParaRPr b="0" i="0" sz="4200" u="none" cap="none" strike="noStrike">
              <a:solidFill>
                <a:schemeClr val="dk1"/>
              </a:solidFill>
              <a:latin typeface="Calibri"/>
              <a:ea typeface="Calibri"/>
              <a:cs typeface="Calibri"/>
              <a:sym typeface="Calibri"/>
            </a:endParaRPr>
          </a:p>
        </p:txBody>
      </p:sp>
      <p:sp>
        <p:nvSpPr>
          <p:cNvPr id="389" name="Google Shape;389;p13"/>
          <p:cNvSpPr/>
          <p:nvPr/>
        </p:nvSpPr>
        <p:spPr>
          <a:xfrm>
            <a:off x="6126480" y="4462272"/>
            <a:ext cx="274320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MTTR promedio</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A7A7A"/>
              </a:buClr>
              <a:buSzPts val="1000"/>
              <a:buFont typeface="Calibri"/>
              <a:buNone/>
            </a:pPr>
            <a:r>
              <a:rPr b="0" i="0" lang="en-US" sz="1000" u="none" cap="none" strike="noStrike">
                <a:solidFill>
                  <a:srgbClr val="7A7A7A"/>
                </a:solidFill>
                <a:latin typeface="Calibri"/>
                <a:ea typeface="Calibri"/>
                <a:cs typeface="Calibri"/>
                <a:sym typeface="Calibri"/>
              </a:rPr>
              <a:t>alto rendimiento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94" name="Shape 394"/>
        <p:cNvGrpSpPr/>
        <p:nvPr/>
      </p:nvGrpSpPr>
      <p:grpSpPr>
        <a:xfrm>
          <a:off x="0" y="0"/>
          <a:ext cx="0" cy="0"/>
          <a:chOff x="0" y="0"/>
          <a:chExt cx="0" cy="0"/>
        </a:xfrm>
      </p:grpSpPr>
      <p:sp>
        <p:nvSpPr>
          <p:cNvPr id="395" name="Google Shape;395;p14"/>
          <p:cNvSpPr/>
          <p:nvPr/>
        </p:nvSpPr>
        <p:spPr>
          <a:xfrm>
            <a:off x="5303520" y="-274320"/>
            <a:ext cx="5029200" cy="5029200"/>
          </a:xfrm>
          <a:prstGeom prst="ellipse">
            <a:avLst/>
          </a:prstGeom>
          <a:solidFill>
            <a:srgbClr val="1E1E1E"/>
          </a:solidFill>
          <a:ln cap="flat" cmpd="sng" w="12700">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
          <p:cNvSpPr/>
          <p:nvPr/>
        </p:nvSpPr>
        <p:spPr>
          <a:xfrm>
            <a:off x="6400800" y="822960"/>
            <a:ext cx="2743200" cy="2743200"/>
          </a:xfrm>
          <a:prstGeom prst="ellipse">
            <a:avLst/>
          </a:prstGeom>
          <a:solidFill>
            <a:srgbClr val="14141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6400800" y="1417320"/>
            <a:ext cx="2743200" cy="8046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EF264"/>
              </a:buClr>
              <a:buSzPts val="4400"/>
              <a:buFont typeface="Calibri"/>
              <a:buNone/>
            </a:pPr>
            <a:r>
              <a:rPr b="1" i="0" lang="en-US" sz="4400" u="none" cap="none" strike="noStrike">
                <a:solidFill>
                  <a:srgbClr val="BEF264"/>
                </a:solidFill>
                <a:latin typeface="Calibri"/>
                <a:ea typeface="Calibri"/>
                <a:cs typeface="Calibri"/>
                <a:sym typeface="Calibri"/>
              </a:rPr>
              <a:t>3:00</a:t>
            </a:r>
            <a:endParaRPr b="0" i="0" sz="4400" u="none" cap="none" strike="noStrike">
              <a:solidFill>
                <a:schemeClr val="dk1"/>
              </a:solidFill>
              <a:latin typeface="Calibri"/>
              <a:ea typeface="Calibri"/>
              <a:cs typeface="Calibri"/>
              <a:sym typeface="Calibri"/>
            </a:endParaRPr>
          </a:p>
        </p:txBody>
      </p:sp>
      <p:sp>
        <p:nvSpPr>
          <p:cNvPr id="398" name="Google Shape;398;p14"/>
          <p:cNvSpPr/>
          <p:nvPr/>
        </p:nvSpPr>
        <p:spPr>
          <a:xfrm>
            <a:off x="6400800" y="2194560"/>
            <a:ext cx="27432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7A7A"/>
              </a:buClr>
              <a:buSzPts val="1300"/>
              <a:buFont typeface="Calibri"/>
              <a:buNone/>
            </a:pPr>
            <a:r>
              <a:rPr b="0" i="0" lang="en-US" sz="1300" u="none" cap="none" strike="noStrike">
                <a:solidFill>
                  <a:srgbClr val="7A7A7A"/>
                </a:solidFill>
                <a:latin typeface="Calibri"/>
                <a:ea typeface="Calibri"/>
                <a:cs typeface="Calibri"/>
                <a:sym typeface="Calibri"/>
              </a:rPr>
              <a:t>A M</a:t>
            </a:r>
            <a:endParaRPr b="0" i="0" sz="1300" u="none" cap="none" strike="noStrike">
              <a:solidFill>
                <a:schemeClr val="dk1"/>
              </a:solidFill>
              <a:latin typeface="Calibri"/>
              <a:ea typeface="Calibri"/>
              <a:cs typeface="Calibri"/>
              <a:sym typeface="Calibri"/>
            </a:endParaRPr>
          </a:p>
        </p:txBody>
      </p:sp>
      <p:cxnSp>
        <p:nvCxnSpPr>
          <p:cNvPr id="399" name="Google Shape;399;p14"/>
          <p:cNvCxnSpPr/>
          <p:nvPr/>
        </p:nvCxnSpPr>
        <p:spPr>
          <a:xfrm>
            <a:off x="457200" y="475488"/>
            <a:ext cx="4572000" cy="0"/>
          </a:xfrm>
          <a:prstGeom prst="straightConnector1">
            <a:avLst/>
          </a:prstGeom>
          <a:noFill/>
          <a:ln cap="flat" cmpd="sng" w="12700">
            <a:solidFill>
              <a:srgbClr val="BEF264"/>
            </a:solidFill>
            <a:prstDash val="solid"/>
            <a:round/>
            <a:headEnd len="sm" w="sm" type="none"/>
            <a:tailEnd len="sm" w="sm" type="none"/>
          </a:ln>
        </p:spPr>
      </p:cxnSp>
      <p:sp>
        <p:nvSpPr>
          <p:cNvPr id="400" name="Google Shape;400;p14"/>
          <p:cNvSpPr/>
          <p:nvPr/>
        </p:nvSpPr>
        <p:spPr>
          <a:xfrm>
            <a:off x="457200" y="18288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EF264"/>
              </a:buClr>
              <a:buSzPts val="900"/>
              <a:buFont typeface="Calibri"/>
              <a:buNone/>
            </a:pPr>
            <a:r>
              <a:rPr b="1" i="0" lang="en-US" sz="900" u="none" cap="none" strike="noStrike">
                <a:solidFill>
                  <a:srgbClr val="BEF264"/>
                </a:solidFill>
                <a:latin typeface="Calibri"/>
                <a:ea typeface="Calibri"/>
                <a:cs typeface="Calibri"/>
                <a:sym typeface="Calibri"/>
              </a:rPr>
              <a:t>EXPERIENCIA EN VIVO</a:t>
            </a:r>
            <a:endParaRPr b="0" i="0" sz="900" u="none" cap="none" strike="noStrike">
              <a:solidFill>
                <a:schemeClr val="dk1"/>
              </a:solidFill>
              <a:latin typeface="Calibri"/>
              <a:ea typeface="Calibri"/>
              <a:cs typeface="Calibri"/>
              <a:sym typeface="Calibri"/>
            </a:endParaRPr>
          </a:p>
        </p:txBody>
      </p:sp>
      <p:sp>
        <p:nvSpPr>
          <p:cNvPr id="401" name="Google Shape;401;p14"/>
          <p:cNvSpPr/>
          <p:nvPr/>
        </p:nvSpPr>
        <p:spPr>
          <a:xfrm>
            <a:off x="457200" y="594360"/>
            <a:ext cx="45720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El Test de Empatía</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de las 3 AM</a:t>
            </a:r>
            <a:endParaRPr b="0" i="0" sz="2800" u="none" cap="none" strike="noStrike">
              <a:solidFill>
                <a:schemeClr val="dk1"/>
              </a:solidFill>
              <a:latin typeface="Calibri"/>
              <a:ea typeface="Calibri"/>
              <a:cs typeface="Calibri"/>
              <a:sym typeface="Calibri"/>
            </a:endParaRPr>
          </a:p>
        </p:txBody>
      </p:sp>
      <p:sp>
        <p:nvSpPr>
          <p:cNvPr id="402" name="Google Shape;402;p14"/>
          <p:cNvSpPr/>
          <p:nvPr/>
        </p:nvSpPr>
        <p:spPr>
          <a:xfrm>
            <a:off x="365760" y="1773936"/>
            <a:ext cx="384048" cy="38404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4"/>
          <p:cNvSpPr/>
          <p:nvPr/>
        </p:nvSpPr>
        <p:spPr>
          <a:xfrm>
            <a:off x="365760" y="177393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600"/>
              <a:buFont typeface="Calibri"/>
              <a:buNone/>
            </a:pPr>
            <a:r>
              <a:rPr b="1" i="0" lang="en-US" sz="1600" u="none" cap="none" strike="noStrike">
                <a:solidFill>
                  <a:srgbClr val="0A0A0A"/>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404" name="Google Shape;404;p14"/>
          <p:cNvSpPr/>
          <p:nvPr/>
        </p:nvSpPr>
        <p:spPr>
          <a:xfrm>
            <a:off x="896112" y="1664208"/>
            <a:ext cx="4206240"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300"/>
              <a:buFont typeface="Calibri"/>
              <a:buNone/>
            </a:pPr>
            <a:r>
              <a:rPr b="0" i="0" lang="en-US" sz="1300" u="none" cap="none" strike="noStrike">
                <a:solidFill>
                  <a:srgbClr val="F0EBE2"/>
                </a:solidFill>
                <a:latin typeface="Calibri"/>
                <a:ea typeface="Calibri"/>
                <a:cs typeface="Calibri"/>
                <a:sym typeface="Calibri"/>
              </a:rPr>
              <a:t>Levanten la mano si alguna vez sintieron que la infra era "el problema de otro."</a:t>
            </a:r>
            <a:endParaRPr b="0" i="0" sz="1300" u="none" cap="none" strike="noStrike">
              <a:solidFill>
                <a:schemeClr val="dk1"/>
              </a:solidFill>
              <a:latin typeface="Calibri"/>
              <a:ea typeface="Calibri"/>
              <a:cs typeface="Calibri"/>
              <a:sym typeface="Calibri"/>
            </a:endParaRPr>
          </a:p>
        </p:txBody>
      </p:sp>
      <p:sp>
        <p:nvSpPr>
          <p:cNvPr id="405" name="Google Shape;405;p14"/>
          <p:cNvSpPr/>
          <p:nvPr/>
        </p:nvSpPr>
        <p:spPr>
          <a:xfrm>
            <a:off x="365760" y="2688336"/>
            <a:ext cx="384048" cy="38404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4"/>
          <p:cNvSpPr/>
          <p:nvPr/>
        </p:nvSpPr>
        <p:spPr>
          <a:xfrm>
            <a:off x="365760" y="268833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600"/>
              <a:buFont typeface="Calibri"/>
              <a:buNone/>
            </a:pPr>
            <a:r>
              <a:rPr b="1" i="0" lang="en-US" sz="1600" u="none" cap="none" strike="noStrike">
                <a:solidFill>
                  <a:srgbClr val="0A0A0A"/>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407" name="Google Shape;407;p14"/>
          <p:cNvSpPr/>
          <p:nvPr/>
        </p:nvSpPr>
        <p:spPr>
          <a:xfrm>
            <a:off x="896112" y="2578608"/>
            <a:ext cx="4206240"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300"/>
              <a:buFont typeface="Calibri"/>
              <a:buNone/>
            </a:pPr>
            <a:r>
              <a:rPr b="0" i="0" lang="en-US" sz="1300" u="none" cap="none" strike="noStrike">
                <a:solidFill>
                  <a:srgbClr val="F0EBE2"/>
                </a:solidFill>
                <a:latin typeface="Calibri"/>
                <a:ea typeface="Calibri"/>
                <a:cs typeface="Calibri"/>
                <a:sym typeface="Calibri"/>
              </a:rPr>
              <a:t>Cierren los ojos. Viernes, 3 AM. Sistema caído. Usuario real sin acceso a servicio esencial.</a:t>
            </a:r>
            <a:endParaRPr b="0" i="0" sz="1300" u="none" cap="none" strike="noStrike">
              <a:solidFill>
                <a:schemeClr val="dk1"/>
              </a:solidFill>
              <a:latin typeface="Calibri"/>
              <a:ea typeface="Calibri"/>
              <a:cs typeface="Calibri"/>
              <a:sym typeface="Calibri"/>
            </a:endParaRPr>
          </a:p>
        </p:txBody>
      </p:sp>
      <p:sp>
        <p:nvSpPr>
          <p:cNvPr id="408" name="Google Shape;408;p14"/>
          <p:cNvSpPr/>
          <p:nvPr/>
        </p:nvSpPr>
        <p:spPr>
          <a:xfrm>
            <a:off x="365760" y="3602736"/>
            <a:ext cx="384048" cy="384048"/>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365760" y="360273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600"/>
              <a:buFont typeface="Calibri"/>
              <a:buNone/>
            </a:pPr>
            <a:r>
              <a:rPr b="1" i="0" lang="en-US" sz="1600" u="none" cap="none" strike="noStrike">
                <a:solidFill>
                  <a:srgbClr val="0A0A0A"/>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10" name="Google Shape;410;p14"/>
          <p:cNvSpPr/>
          <p:nvPr/>
        </p:nvSpPr>
        <p:spPr>
          <a:xfrm>
            <a:off x="896112" y="3493008"/>
            <a:ext cx="4206240"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EBE2"/>
              </a:buClr>
              <a:buSzPts val="1300"/>
              <a:buFont typeface="Calibri"/>
              <a:buNone/>
            </a:pPr>
            <a:r>
              <a:rPr b="0" i="0" lang="en-US" sz="1300" u="none" cap="none" strike="noStrike">
                <a:solidFill>
                  <a:srgbClr val="F0EBE2"/>
                </a:solidFill>
                <a:latin typeface="Calibri"/>
                <a:ea typeface="Calibri"/>
                <a:cs typeface="Calibri"/>
                <a:sym typeface="Calibri"/>
              </a:rPr>
              <a:t>Dos caminos: culpar al último push ·o· confiar en el proceso y seguir durmiendo.</a:t>
            </a:r>
            <a:endParaRPr b="0" i="0" sz="1300" u="none" cap="none" strike="noStrike">
              <a:solidFill>
                <a:schemeClr val="dk1"/>
              </a:solidFill>
              <a:latin typeface="Calibri"/>
              <a:ea typeface="Calibri"/>
              <a:cs typeface="Calibri"/>
              <a:sym typeface="Calibri"/>
            </a:endParaRPr>
          </a:p>
        </p:txBody>
      </p:sp>
      <p:cxnSp>
        <p:nvCxnSpPr>
          <p:cNvPr id="411" name="Google Shape;411;p14"/>
          <p:cNvCxnSpPr/>
          <p:nvPr/>
        </p:nvCxnSpPr>
        <p:spPr>
          <a:xfrm>
            <a:off x="365760" y="4645152"/>
            <a:ext cx="4572000" cy="0"/>
          </a:xfrm>
          <a:prstGeom prst="straightConnector1">
            <a:avLst/>
          </a:prstGeom>
          <a:noFill/>
          <a:ln cap="flat" cmpd="sng" w="12700">
            <a:solidFill>
              <a:srgbClr val="BEF264"/>
            </a:solidFill>
            <a:prstDash val="solid"/>
            <a:round/>
            <a:headEnd len="sm" w="sm" type="none"/>
            <a:tailEnd len="sm" w="sm" type="none"/>
          </a:ln>
        </p:spPr>
      </p:cxnSp>
      <p:sp>
        <p:nvSpPr>
          <p:cNvPr id="412" name="Google Shape;412;p14"/>
          <p:cNvSpPr/>
          <p:nvPr/>
        </p:nvSpPr>
        <p:spPr>
          <a:xfrm>
            <a:off x="365760" y="4645152"/>
            <a:ext cx="4754880" cy="34747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4"/>
          <p:cNvSpPr/>
          <p:nvPr/>
        </p:nvSpPr>
        <p:spPr>
          <a:xfrm>
            <a:off x="365760" y="4645152"/>
            <a:ext cx="47548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A0A"/>
              </a:buClr>
              <a:buSzPts val="1100"/>
              <a:buFont typeface="Calibri"/>
              <a:buNone/>
            </a:pPr>
            <a:r>
              <a:rPr b="1" i="0" lang="en-US" sz="1100" u="none" cap="none" strike="noStrike">
                <a:solidFill>
                  <a:srgbClr val="0A0A0A"/>
                </a:solidFill>
                <a:latin typeface="Calibri"/>
                <a:ea typeface="Calibri"/>
                <a:cs typeface="Calibri"/>
                <a:sym typeface="Calibri"/>
              </a:rPr>
              <a:t>En INFRAIT no apagamos incendios. Diseñamos sistemas que no se incendian.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FE6"/>
        </a:solidFill>
      </p:bgPr>
    </p:bg>
    <p:spTree>
      <p:nvGrpSpPr>
        <p:cNvPr id="418" name="Shape 418"/>
        <p:cNvGrpSpPr/>
        <p:nvPr/>
      </p:nvGrpSpPr>
      <p:grpSpPr>
        <a:xfrm>
          <a:off x="0" y="0"/>
          <a:ext cx="0" cy="0"/>
          <a:chOff x="0" y="0"/>
          <a:chExt cx="0" cy="0"/>
        </a:xfrm>
      </p:grpSpPr>
      <p:sp>
        <p:nvSpPr>
          <p:cNvPr id="419" name="Google Shape;419;p15"/>
          <p:cNvSpPr/>
          <p:nvPr/>
        </p:nvSpPr>
        <p:spPr>
          <a:xfrm>
            <a:off x="0" y="0"/>
            <a:ext cx="9144000" cy="1600200"/>
          </a:xfrm>
          <a:prstGeom prst="rect">
            <a:avLst/>
          </a:prstGeom>
          <a:solidFill>
            <a:srgbClr val="141414"/>
          </a:solidFill>
          <a:ln cap="flat" cmpd="sng" w="127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0" name="Google Shape;420;p15"/>
          <p:cNvCxnSpPr/>
          <p:nvPr/>
        </p:nvCxnSpPr>
        <p:spPr>
          <a:xfrm>
            <a:off x="0" y="1600200"/>
            <a:ext cx="9144000" cy="0"/>
          </a:xfrm>
          <a:prstGeom prst="straightConnector1">
            <a:avLst/>
          </a:prstGeom>
          <a:noFill/>
          <a:ln cap="flat" cmpd="sng" w="25400">
            <a:solidFill>
              <a:srgbClr val="BEF264"/>
            </a:solidFill>
            <a:prstDash val="solid"/>
            <a:round/>
            <a:headEnd len="sm" w="sm" type="none"/>
            <a:tailEnd len="sm" w="sm" type="none"/>
          </a:ln>
        </p:spPr>
      </p:cxnSp>
      <p:sp>
        <p:nvSpPr>
          <p:cNvPr id="421" name="Google Shape;421;p15"/>
          <p:cNvSpPr/>
          <p:nvPr/>
        </p:nvSpPr>
        <p:spPr>
          <a:xfrm>
            <a:off x="457200" y="137160"/>
            <a:ext cx="8229600" cy="1325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"Construyamos sistemas</a:t>
            </a:r>
            <a:endParaRPr b="0" i="0" sz="3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que cuiden a las personas."</a:t>
            </a:r>
            <a:endParaRPr b="0" i="0" sz="3200" u="none" cap="none" strike="noStrike">
              <a:solidFill>
                <a:schemeClr val="dk1"/>
              </a:solidFill>
              <a:latin typeface="Calibri"/>
              <a:ea typeface="Calibri"/>
              <a:cs typeface="Calibri"/>
              <a:sym typeface="Calibri"/>
            </a:endParaRPr>
          </a:p>
        </p:txBody>
      </p:sp>
      <p:sp>
        <p:nvSpPr>
          <p:cNvPr id="422" name="Google Shape;422;p15"/>
          <p:cNvSpPr/>
          <p:nvPr/>
        </p:nvSpPr>
        <p:spPr>
          <a:xfrm>
            <a:off x="274320" y="1828800"/>
            <a:ext cx="2743200" cy="187452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5"/>
          <p:cNvSpPr/>
          <p:nvPr/>
        </p:nvSpPr>
        <p:spPr>
          <a:xfrm>
            <a:off x="274320" y="1828800"/>
            <a:ext cx="2743200" cy="45720"/>
          </a:xfrm>
          <a:prstGeom prst="rect">
            <a:avLst/>
          </a:prstGeom>
          <a:solidFill>
            <a:srgbClr val="141414"/>
          </a:solidFill>
          <a:ln cap="flat" cmpd="sng" w="127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p:nvPr/>
        </p:nvSpPr>
        <p:spPr>
          <a:xfrm>
            <a:off x="411480" y="1920240"/>
            <a:ext cx="24688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Cultura</a:t>
            </a:r>
            <a:endParaRPr b="0" i="0" sz="1600" u="none" cap="none" strike="noStrike">
              <a:solidFill>
                <a:schemeClr val="dk1"/>
              </a:solidFill>
              <a:latin typeface="Calibri"/>
              <a:ea typeface="Calibri"/>
              <a:cs typeface="Calibri"/>
              <a:sym typeface="Calibri"/>
            </a:endParaRPr>
          </a:p>
        </p:txBody>
      </p:sp>
      <p:sp>
        <p:nvSpPr>
          <p:cNvPr id="425" name="Google Shape;425;p15"/>
          <p:cNvSpPr/>
          <p:nvPr/>
        </p:nvSpPr>
        <p:spPr>
          <a:xfrm>
            <a:off x="411480" y="2304288"/>
            <a:ext cx="24688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200"/>
              <a:buFont typeface="Calibri"/>
              <a:buNone/>
            </a:pPr>
            <a:r>
              <a:rPr b="0" i="0" lang="en-US" sz="1200" u="none" cap="none" strike="noStrike">
                <a:solidFill>
                  <a:srgbClr val="5A5A5A"/>
                </a:solidFill>
                <a:latin typeface="Calibri"/>
                <a:ea typeface="Calibri"/>
                <a:cs typeface="Calibri"/>
                <a:sym typeface="Calibri"/>
              </a:rPr>
              <a:t>Blameless · Shared Ownership</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A5A"/>
              </a:buClr>
              <a:buSzPts val="1200"/>
              <a:buFont typeface="Calibri"/>
              <a:buNone/>
            </a:pPr>
            <a:r>
              <a:rPr b="0" i="0" lang="en-US" sz="1200" u="none" cap="none" strike="noStrike">
                <a:solidFill>
                  <a:srgbClr val="5A5A5A"/>
                </a:solidFill>
                <a:latin typeface="Calibri"/>
                <a:ea typeface="Calibri"/>
                <a:cs typeface="Calibri"/>
                <a:sym typeface="Calibri"/>
              </a:rPr>
              <a:t>Psychological Safety · SRE</a:t>
            </a:r>
            <a:endParaRPr b="0" i="0" sz="1200" u="none" cap="none" strike="noStrike">
              <a:solidFill>
                <a:schemeClr val="dk1"/>
              </a:solidFill>
              <a:latin typeface="Calibri"/>
              <a:ea typeface="Calibri"/>
              <a:cs typeface="Calibri"/>
              <a:sym typeface="Calibri"/>
            </a:endParaRPr>
          </a:p>
        </p:txBody>
      </p:sp>
      <p:sp>
        <p:nvSpPr>
          <p:cNvPr id="426" name="Google Shape;426;p15"/>
          <p:cNvSpPr/>
          <p:nvPr/>
        </p:nvSpPr>
        <p:spPr>
          <a:xfrm>
            <a:off x="3154680" y="1828800"/>
            <a:ext cx="2743200" cy="187452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p:nvPr/>
        </p:nvSpPr>
        <p:spPr>
          <a:xfrm>
            <a:off x="3154680" y="1828800"/>
            <a:ext cx="2743200" cy="45720"/>
          </a:xfrm>
          <a:prstGeom prst="rect">
            <a:avLst/>
          </a:prstGeom>
          <a:solidFill>
            <a:srgbClr val="141414"/>
          </a:solidFill>
          <a:ln cap="flat" cmpd="sng" w="127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a:off x="3291840" y="1920240"/>
            <a:ext cx="24688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Técnica</a:t>
            </a:r>
            <a:endParaRPr b="0" i="0" sz="1600" u="none" cap="none" strike="noStrike">
              <a:solidFill>
                <a:schemeClr val="dk1"/>
              </a:solidFill>
              <a:latin typeface="Calibri"/>
              <a:ea typeface="Calibri"/>
              <a:cs typeface="Calibri"/>
              <a:sym typeface="Calibri"/>
            </a:endParaRPr>
          </a:p>
        </p:txBody>
      </p:sp>
      <p:sp>
        <p:nvSpPr>
          <p:cNvPr id="429" name="Google Shape;429;p15"/>
          <p:cNvSpPr/>
          <p:nvPr/>
        </p:nvSpPr>
        <p:spPr>
          <a:xfrm>
            <a:off x="3291840" y="2304288"/>
            <a:ext cx="24688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200"/>
              <a:buFont typeface="Calibri"/>
              <a:buNone/>
            </a:pPr>
            <a:r>
              <a:rPr b="0" i="0" lang="en-US" sz="1200" u="none" cap="none" strike="noStrike">
                <a:solidFill>
                  <a:srgbClr val="5A5A5A"/>
                </a:solidFill>
                <a:latin typeface="Calibri"/>
                <a:ea typeface="Calibri"/>
                <a:cs typeface="Calibri"/>
                <a:sym typeface="Calibri"/>
              </a:rPr>
              <a:t>12-Factor · CI/CD · GreenOps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A5A"/>
              </a:buClr>
              <a:buSzPts val="1200"/>
              <a:buFont typeface="Calibri"/>
              <a:buNone/>
            </a:pPr>
            <a:r>
              <a:rPr b="0" i="0" lang="en-US" sz="1200" u="none" cap="none" strike="noStrike">
                <a:solidFill>
                  <a:srgbClr val="5A5A5A"/>
                </a:solidFill>
                <a:latin typeface="Calibri"/>
                <a:ea typeface="Calibri"/>
                <a:cs typeface="Calibri"/>
                <a:sym typeface="Calibri"/>
              </a:rPr>
              <a:t>SCI · Carbon Budgets · SLOs</a:t>
            </a:r>
            <a:endParaRPr b="0" i="0" sz="1200" u="none" cap="none" strike="noStrike">
              <a:solidFill>
                <a:schemeClr val="dk1"/>
              </a:solidFill>
              <a:latin typeface="Calibri"/>
              <a:ea typeface="Calibri"/>
              <a:cs typeface="Calibri"/>
              <a:sym typeface="Calibri"/>
            </a:endParaRPr>
          </a:p>
        </p:txBody>
      </p:sp>
      <p:sp>
        <p:nvSpPr>
          <p:cNvPr id="430" name="Google Shape;430;p15"/>
          <p:cNvSpPr/>
          <p:nvPr/>
        </p:nvSpPr>
        <p:spPr>
          <a:xfrm>
            <a:off x="6035040" y="1828800"/>
            <a:ext cx="2743200" cy="1874520"/>
          </a:xfrm>
          <a:prstGeom prst="rect">
            <a:avLst/>
          </a:prstGeom>
          <a:solidFill>
            <a:srgbClr val="EAE5DC"/>
          </a:solidFill>
          <a:ln cap="flat" cmpd="sng" w="12700">
            <a:solidFill>
              <a:srgbClr val="DDD8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6035040" y="1828800"/>
            <a:ext cx="2743200" cy="45720"/>
          </a:xfrm>
          <a:prstGeom prst="rect">
            <a:avLst/>
          </a:prstGeom>
          <a:solidFill>
            <a:srgbClr val="141414"/>
          </a:solidFill>
          <a:ln cap="flat" cmpd="sng" w="127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5"/>
          <p:cNvSpPr/>
          <p:nvPr/>
        </p:nvSpPr>
        <p:spPr>
          <a:xfrm>
            <a:off x="6172200" y="1920240"/>
            <a:ext cx="24688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Futuro</a:t>
            </a:r>
            <a:endParaRPr b="0" i="0" sz="1600" u="none" cap="none" strike="noStrike">
              <a:solidFill>
                <a:schemeClr val="dk1"/>
              </a:solidFill>
              <a:latin typeface="Calibri"/>
              <a:ea typeface="Calibri"/>
              <a:cs typeface="Calibri"/>
              <a:sym typeface="Calibri"/>
            </a:endParaRPr>
          </a:p>
        </p:txBody>
      </p:sp>
      <p:sp>
        <p:nvSpPr>
          <p:cNvPr id="433" name="Google Shape;433;p15"/>
          <p:cNvSpPr/>
          <p:nvPr/>
        </p:nvSpPr>
        <p:spPr>
          <a:xfrm>
            <a:off x="6172200" y="2304288"/>
            <a:ext cx="246888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A5A"/>
              </a:buClr>
              <a:buSzPts val="1200"/>
              <a:buFont typeface="Calibri"/>
              <a:buNone/>
            </a:pPr>
            <a:r>
              <a:rPr b="0" i="0" lang="en-US" sz="1200" u="none" cap="none" strike="noStrike">
                <a:solidFill>
                  <a:srgbClr val="5A5A5A"/>
                </a:solidFill>
                <a:latin typeface="Calibri"/>
                <a:ea typeface="Calibri"/>
                <a:cs typeface="Calibri"/>
                <a:sym typeface="Calibri"/>
              </a:rPr>
              <a:t>Platform Eng. · FinOps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A5A"/>
              </a:buClr>
              <a:buSzPts val="1200"/>
              <a:buFont typeface="Calibri"/>
              <a:buNone/>
            </a:pPr>
            <a:r>
              <a:rPr b="0" i="0" lang="en-US" sz="1200" u="none" cap="none" strike="noStrike">
                <a:solidFill>
                  <a:srgbClr val="5A5A5A"/>
                </a:solidFill>
                <a:latin typeface="Calibri"/>
                <a:ea typeface="Calibri"/>
                <a:cs typeface="Calibri"/>
                <a:sym typeface="Calibri"/>
              </a:rPr>
              <a:t>AI-Native · MCP · Edge</a:t>
            </a:r>
            <a:endParaRPr b="0" i="0" sz="1200" u="none" cap="none" strike="noStrike">
              <a:solidFill>
                <a:schemeClr val="dk1"/>
              </a:solidFill>
              <a:latin typeface="Calibri"/>
              <a:ea typeface="Calibri"/>
              <a:cs typeface="Calibri"/>
              <a:sym typeface="Calibri"/>
            </a:endParaRPr>
          </a:p>
        </p:txBody>
      </p:sp>
      <p:sp>
        <p:nvSpPr>
          <p:cNvPr id="434" name="Google Shape;434;p15"/>
          <p:cNvSpPr/>
          <p:nvPr/>
        </p:nvSpPr>
        <p:spPr>
          <a:xfrm>
            <a:off x="274320" y="3840480"/>
            <a:ext cx="8595360" cy="804672"/>
          </a:xfrm>
          <a:prstGeom prst="rect">
            <a:avLst/>
          </a:prstGeom>
          <a:solidFill>
            <a:srgbClr val="BEF264"/>
          </a:solidFill>
          <a:ln cap="flat" cmpd="sng" w="12700">
            <a:solidFill>
              <a:srgbClr val="BEF2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a:off x="274320" y="3886200"/>
            <a:ext cx="859536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0A0A"/>
              </a:buClr>
              <a:buSzPts val="1500"/>
              <a:buFont typeface="Calibri"/>
              <a:buNone/>
            </a:pPr>
            <a:r>
              <a:rPr b="1" i="0" lang="en-US" sz="1500" u="none" cap="none" strike="noStrike">
                <a:solidFill>
                  <a:srgbClr val="0A0A0A"/>
                </a:solidFill>
                <a:latin typeface="Calibri"/>
                <a:ea typeface="Calibri"/>
                <a:cs typeface="Calibri"/>
                <a:sym typeface="Calibri"/>
              </a:rPr>
              <a:t>Laboratorio INFRAIT · UTN FRLP</a:t>
            </a:r>
            <a:endParaRPr b="0" i="0" sz="1500" u="none" cap="none" strike="noStrike">
              <a:solidFill>
                <a:schemeClr val="dk1"/>
              </a:solidFill>
              <a:latin typeface="Calibri"/>
              <a:ea typeface="Calibri"/>
              <a:cs typeface="Calibri"/>
              <a:sym typeface="Calibri"/>
            </a:endParaRPr>
          </a:p>
        </p:txBody>
      </p:sp>
      <p:sp>
        <p:nvSpPr>
          <p:cNvPr id="436" name="Google Shape;436;p15"/>
          <p:cNvSpPr/>
          <p:nvPr/>
        </p:nvSpPr>
        <p:spPr>
          <a:xfrm>
            <a:off x="274320" y="4187952"/>
            <a:ext cx="859536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0A0A"/>
              </a:buClr>
              <a:buSzPts val="1300"/>
              <a:buFont typeface="Calibri"/>
              <a:buNone/>
            </a:pPr>
            <a:r>
              <a:rPr b="0" i="0" lang="en-US" sz="1300" u="none" cap="none" strike="noStrike">
                <a:solidFill>
                  <a:srgbClr val="0A0A0A"/>
                </a:solidFill>
                <a:latin typeface="Calibri"/>
                <a:ea typeface="Calibri"/>
                <a:cs typeface="Calibri"/>
                <a:sym typeface="Calibri"/>
              </a:rPr>
              <a:t>¡Sumáte al laboratorio · Construí el futuro digital de Argentina!</a:t>
            </a:r>
            <a:endParaRPr b="0" i="0" sz="1300" u="none" cap="none" strike="noStrike">
              <a:solidFill>
                <a:schemeClr val="dk1"/>
              </a:solidFill>
              <a:latin typeface="Calibri"/>
              <a:ea typeface="Calibri"/>
              <a:cs typeface="Calibri"/>
              <a:sym typeface="Calibri"/>
            </a:endParaRPr>
          </a:p>
        </p:txBody>
      </p:sp>
      <p:cxnSp>
        <p:nvCxnSpPr>
          <p:cNvPr id="437" name="Google Shape;437;p15"/>
          <p:cNvCxnSpPr/>
          <p:nvPr/>
        </p:nvCxnSpPr>
        <p:spPr>
          <a:xfrm>
            <a:off x="274320" y="4800600"/>
            <a:ext cx="8595360" cy="0"/>
          </a:xfrm>
          <a:prstGeom prst="straightConnector1">
            <a:avLst/>
          </a:prstGeom>
          <a:noFill/>
          <a:ln cap="flat" cmpd="sng" w="9525">
            <a:solidFill>
              <a:srgbClr val="DDD8CF"/>
            </a:solidFill>
            <a:prstDash val="solid"/>
            <a:round/>
            <a:headEnd len="sm" w="sm" type="none"/>
            <a:tailEnd len="sm" w="sm" type="none"/>
          </a:ln>
        </p:spPr>
      </p:cxnSp>
      <p:sp>
        <p:nvSpPr>
          <p:cNvPr id="438" name="Google Shape;438;p15"/>
          <p:cNvSpPr/>
          <p:nvPr/>
        </p:nvSpPr>
        <p:spPr>
          <a:xfrm>
            <a:off x="274320" y="4846320"/>
            <a:ext cx="859536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800"/>
              <a:buFont typeface="Calibri"/>
              <a:buNone/>
            </a:pPr>
            <a:r>
              <a:rPr b="0" i="0" lang="en-US" sz="800" u="none" cap="none" strike="noStrike">
                <a:solidFill>
                  <a:srgbClr val="5A5A5A"/>
                </a:solidFill>
                <a:latin typeface="Calibri"/>
                <a:ea typeface="Calibri"/>
                <a:cs typeface="Calibri"/>
                <a:sym typeface="Calibri"/>
              </a:rPr>
              <a:t>Accelerate (Forsgren 2018) · DevOps Handbook (Kim 2016) · SRE Book (Google/O'Reilly) · 12-Factor (2025) · Green Software Foundation · Tech Radar Vol.33 (Thoughtworks) · State of DevOps 2025 · Gartner Platform Eng.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